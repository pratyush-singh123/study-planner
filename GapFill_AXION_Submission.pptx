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jpg"/><Relationship Id="rId10" Type="http://schemas.openxmlformats.org/officeDocument/2006/relationships/image" Target="../media/image9.png"/><Relationship Id="rId11"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jpg"/><Relationship Id="rId10" Type="http://schemas.openxmlformats.org/officeDocument/2006/relationships/image" Target="../media/image9.png"/><Relationship Id="rId11"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jpg"/><Relationship Id="rId10" Type="http://schemas.openxmlformats.org/officeDocument/2006/relationships/image" Target="../media/image9.png"/><Relationship Id="rId11"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jpg"/><Relationship Id="rId10" Type="http://schemas.openxmlformats.org/officeDocument/2006/relationships/image" Target="../media/image9.png"/><Relationship Id="rId11"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jpg"/><Relationship Id="rId10" Type="http://schemas.openxmlformats.org/officeDocument/2006/relationships/image" Target="../media/image9.png"/><Relationship Id="rId11"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999" cy="6858000"/>
          </a:xfrm>
          <a:prstGeom prst="rect">
            <a:avLst/>
          </a:prstGeom>
        </p:spPr>
      </p:pic>
      <p:pic>
        <p:nvPicPr>
          <p:cNvPr id="3" name="Picture 2" descr="image.png"/>
          <p:cNvPicPr>
            <a:picLocks noChangeAspect="1"/>
          </p:cNvPicPr>
          <p:nvPr/>
        </p:nvPicPr>
        <p:blipFill>
          <a:blip r:embed="rId5"/>
          <a:stretch>
            <a:fillRect/>
          </a:stretch>
        </p:blipFill>
        <p:spPr>
          <a:xfrm>
            <a:off x="347472" y="182880"/>
            <a:ext cx="1417320" cy="190652"/>
          </a:xfrm>
          <a:prstGeom prst="rect">
            <a:avLst/>
          </a:prstGeom>
        </p:spPr>
      </p:pic>
      <p:sp>
        <p:nvSpPr>
          <p:cNvPr id="4" name="GapFill_Cover_Card"/>
          <p:cNvSpPr/>
          <p:nvPr/>
        </p:nvSpPr>
        <p:spPr>
          <a:xfrm>
            <a:off x="1799999" y="5380000"/>
            <a:ext cx="8592000" cy="1180000"/>
          </a:xfrm>
          <a:prstGeom prst="roundRect">
            <a:avLst/>
          </a:prstGeom>
          <a:solidFill>
            <a:srgbClr val="0B0F19"/>
          </a:solidFill>
          <a:ln w="19050">
            <a:solidFill>
              <a:srgbClr val="E5A93C"/>
            </a:solidFill>
          </a:ln>
        </p:spPr>
        <p:style>
          <a:lnRef idx="1">
            <a:schemeClr val="accent1"/>
          </a:lnRef>
          <a:fillRef idx="3">
            <a:schemeClr val="accent1"/>
          </a:fillRef>
          <a:effectRef idx="2">
            <a:schemeClr val="accent1"/>
          </a:effectRef>
          <a:fontRef idx="minor">
            <a:schemeClr val="lt1"/>
          </a:fontRef>
        </p:style>
        <p:txBody>
          <a:bodyPr rtlCol="0" anchor="ctr" wrap="square" lIns="203200" rIns="203200" tIns="127000" bIns="127000"/>
          <a:lstStyle/>
          <a:p>
            <a:pPr algn="ctr">
              <a:spcAft>
                <a:spcPts val="200"/>
              </a:spcAft>
            </a:pPr>
            <a:r>
              <a:rPr sz="2500" b="1">
                <a:solidFill>
                  <a:srgbClr val="FFFFFF"/>
                </a:solidFill>
                <a:latin typeface="Aptos"/>
              </a:rPr>
              <a:t>GapFill</a:t>
            </a:r>
          </a:p>
          <a:p>
            <a:pPr algn="ctr">
              <a:spcAft>
                <a:spcPts val="400"/>
              </a:spcAft>
            </a:pPr>
            <a:r>
              <a:rPr sz="1200">
                <a:solidFill>
                  <a:srgbClr val="94A3B8"/>
                </a:solidFill>
                <a:latin typeface="Aptos"/>
              </a:rPr>
              <a:t>AI-Powered Knowledge Gap Engine &amp; Exam Preparation Companion</a:t>
            </a:r>
          </a:p>
          <a:p>
            <a:pPr algn="ctr"/>
            <a:r>
              <a:rPr sz="1300" b="1">
                <a:solidFill>
                  <a:srgbClr val="FACC15"/>
                </a:solidFill>
                <a:latin typeface="Aptos"/>
              </a:rPr>
              <a:t>Team Non Challengers</a:t>
            </a:r>
            <a:r>
              <a:rPr sz="1300">
                <a:solidFill>
                  <a:srgbClr val="64748B"/>
                </a:solidFill>
                <a:latin typeface="Aptos"/>
              </a:rPr>
              <a:t>   •   </a:t>
            </a:r>
            <a:r>
              <a:rPr sz="1300" b="1">
                <a:solidFill>
                  <a:srgbClr val="F1F5F9"/>
                </a:solidFill>
                <a:latin typeface="Aptos"/>
              </a:rPr>
              <a:t>IIITDM Kancheepuram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6" name="Picture 65" descr="1000258662.png"/>
          <p:cNvPicPr>
            <a:picLocks noChangeAspect="1"/>
          </p:cNvPicPr>
          <p:nvPr/>
        </p:nvPicPr>
        <p:blipFill>
          <a:blip r:embed="rId9"/>
          <a:stretch>
            <a:fillRect/>
          </a:stretch>
        </p:blipFill>
        <p:spPr>
          <a:xfrm>
            <a:off x="0" y="0"/>
            <a:ext cx="12191999" cy="6858000"/>
          </a:xfrm>
          <a:prstGeom prst="rect">
            <a:avLst/>
          </a:prstGeom>
        </p:spPr>
      </p:pic>
      <p:sp>
        <p:nvSpPr>
          <p:cNvPr id="59" name="Rectangle 58"/>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stampers_watermark_final.png"/>
          <p:cNvPicPr>
            <a:picLocks noChangeAspect="1"/>
          </p:cNvPicPr>
          <p:nvPr/>
        </p:nvPicPr>
        <p:blipFill>
          <a:blip r:embed="rId8"/>
          <a:stretch>
            <a:fillRect/>
          </a:stretch>
        </p:blipFill>
        <p:spPr>
          <a:xfrm>
            <a:off x="2331720" y="1051560"/>
            <a:ext cx="6583680" cy="6583680"/>
          </a:xfrm>
          <a:prstGeom prst="rect">
            <a:avLst/>
          </a:prstGeom>
        </p:spPr>
      </p:pic>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914400"/>
            <a:ext cx="11411712" cy="13716"/>
          </a:xfrm>
          <a:prstGeom prst="rect">
            <a:avLst/>
          </a:prstGeom>
          <a:solidFill>
            <a:srgbClr val="D7A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 y="1078992"/>
            <a:ext cx="8046720" cy="502920"/>
          </a:xfrm>
          <a:prstGeom prst="rect">
            <a:avLst/>
          </a:prstGeom>
          <a:noFill/>
        </p:spPr>
        <p:txBody>
          <a:bodyPr wrap="none">
            <a:spAutoFit/>
          </a:bodyPr>
          <a:lstStyle/>
          <a:p>
            <a:pPr>
              <a:defRPr b="1" sz="2400">
                <a:solidFill>
                  <a:srgbClr val="F5F7FA"/>
                </a:solidFill>
                <a:latin typeface="Aptos Display"/>
              </a:defRPr>
            </a:pPr>
            <a:r>
              <a:rPr>
                <a:solidFill>
                  <a:srgbClr val="111827"/>
                </a:solidFill>
              </a:rPr>
              <a:t>01  |  TEAM DETAILS</a:t>
            </a:r>
          </a:p>
        </p:txBody>
      </p:sp>
      <p:sp>
        <p:nvSpPr>
          <p:cNvPr id="7" name="Rectangle 6"/>
          <p:cNvSpPr/>
          <p:nvPr/>
        </p:nvSpPr>
        <p:spPr>
          <a:xfrm>
            <a:off x="457200" y="1627632"/>
            <a:ext cx="713232" cy="32004"/>
          </a:xfrm>
          <a:prstGeom prst="rect">
            <a:avLst/>
          </a:prstGeom>
          <a:solidFill>
            <a:srgbClr val="D7A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0" y="347472"/>
            <a:ext cx="3154680" cy="274320"/>
          </a:xfrm>
          <a:prstGeom prst="rect">
            <a:avLst/>
          </a:prstGeom>
          <a:noFill/>
        </p:spPr>
        <p:txBody>
          <a:bodyPr wrap="none">
            <a:spAutoFit/>
          </a:bodyPr>
          <a:lstStyle/>
          <a:p>
            <a:pPr algn="r">
              <a:defRPr b="1" sz="800">
                <a:solidFill>
                  <a:srgbClr val="F2C45B"/>
                </a:solidFill>
                <a:latin typeface="Aptos"/>
              </a:defRPr>
            </a:pPr>
            <a:r>
              <a:rPr>
                <a:solidFill/>
              </a:rPr>
              <a:t>AXION HACKATHON  •  PPT TEMPLATE  •  02 / 06</a:t>
            </a:r>
          </a:p>
        </p:txBody>
      </p:sp>
      <p:sp>
        <p:nvSpPr>
          <p:cNvPr id="55" name="Rectangle 54"/>
          <p:cNvSpPr/>
          <p:nvPr/>
        </p:nvSpPr>
        <p:spPr>
          <a:xfrm>
            <a:off x="457200" y="6492240"/>
            <a:ext cx="11247120" cy="9144"/>
          </a:xfrm>
          <a:prstGeom prst="rect">
            <a:avLst/>
          </a:prstGeom>
          <a:solidFill>
            <a:srgbClr val="313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6528816"/>
            <a:ext cx="7315200" cy="182880"/>
          </a:xfrm>
          <a:prstGeom prst="rect">
            <a:avLst/>
          </a:prstGeom>
          <a:noFill/>
        </p:spPr>
        <p:txBody>
          <a:bodyPr wrap="none">
            <a:spAutoFit/>
          </a:bodyPr>
          <a:lstStyle/>
          <a:p>
            <a:pPr>
              <a:defRPr sz="700">
                <a:solidFill>
                  <a:srgbClr val="9EA6B2"/>
                </a:solidFill>
                <a:latin typeface="Aptos"/>
              </a:defRPr>
            </a:pPr>
            <a:r>
              <a:rPr>
                <a:solidFill/>
              </a:rPr>
              <a:t>STAY CLEAR  •  STAY STRUCTURED  •  LET YOUR IDEA SPEAK</a:t>
            </a:r>
          </a:p>
        </p:txBody>
      </p:sp>
      <p:sp>
        <p:nvSpPr>
          <p:cNvPr id="57" name="TextBox 56"/>
          <p:cNvSpPr txBox="1"/>
          <p:nvPr/>
        </p:nvSpPr>
        <p:spPr>
          <a:xfrm>
            <a:off x="10515600" y="6528816"/>
            <a:ext cx="1188720" cy="182880"/>
          </a:xfrm>
          <a:prstGeom prst="rect">
            <a:avLst/>
          </a:prstGeom>
          <a:noFill/>
        </p:spPr>
        <p:txBody>
          <a:bodyPr wrap="none">
            <a:spAutoFit/>
          </a:bodyPr>
          <a:lstStyle/>
          <a:p>
            <a:pPr algn="r">
              <a:defRPr sz="700">
                <a:solidFill>
                  <a:srgbClr val="9EA6B2"/>
                </a:solidFill>
                <a:latin typeface="Aptos"/>
              </a:defRPr>
            </a:pPr>
            <a:r>
              <a:rPr>
                <a:solidFill/>
              </a:rPr>
              <a:t>02 / 06</a:t>
            </a:r>
          </a:p>
        </p:txBody>
      </p:sp>
      <p:sp>
        <p:nvSpPr>
          <p:cNvPr id="67" name="Rounded Rectangle 66"/>
          <p:cNvSpPr/>
          <p:nvPr/>
        </p:nvSpPr>
        <p:spPr>
          <a:xfrm>
            <a:off x="685800" y="2148840"/>
            <a:ext cx="10835640" cy="2834640"/>
          </a:xfrm>
          <a:prstGeom prst="roundRect">
            <a:avLst/>
          </a:prstGeom>
          <a:solidFill>
            <a:srgbClr val="FAFAFA"/>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60120" y="2267712"/>
            <a:ext cx="2011680" cy="292608"/>
          </a:xfrm>
          <a:prstGeom prst="rect">
            <a:avLst/>
          </a:prstGeom>
          <a:noFill/>
        </p:spPr>
        <p:txBody>
          <a:bodyPr wrap="none">
            <a:spAutoFit/>
          </a:bodyPr>
          <a:lstStyle/>
          <a:p>
            <a:pPr>
              <a:defRPr sz="1400" b="1">
                <a:solidFill>
                  <a:srgbClr val="232D3C"/>
                </a:solidFill>
              </a:defRPr>
            </a:pPr>
            <a:r>
              <a:t>Team Name</a:t>
            </a:r>
          </a:p>
        </p:txBody>
      </p:sp>
      <p:sp>
        <p:nvSpPr>
          <p:cNvPr id="69" name="Rectangle 68"/>
          <p:cNvSpPr/>
          <p:nvPr/>
        </p:nvSpPr>
        <p:spPr>
          <a:xfrm>
            <a:off x="3108960" y="2542032"/>
            <a:ext cx="8092440" cy="1016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50392" y="2715768"/>
            <a:ext cx="10506456" cy="10160"/>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60120" y="2834640"/>
            <a:ext cx="2011680" cy="292608"/>
          </a:xfrm>
          <a:prstGeom prst="rect">
            <a:avLst/>
          </a:prstGeom>
          <a:noFill/>
        </p:spPr>
        <p:txBody>
          <a:bodyPr wrap="none">
            <a:spAutoFit/>
          </a:bodyPr>
          <a:lstStyle/>
          <a:p>
            <a:pPr>
              <a:defRPr sz="1400" b="1">
                <a:solidFill>
                  <a:srgbClr val="232D3C"/>
                </a:solidFill>
              </a:defRPr>
            </a:pPr>
            <a:r>
              <a:t>Clg Name</a:t>
            </a:r>
          </a:p>
        </p:txBody>
      </p:sp>
      <p:sp>
        <p:nvSpPr>
          <p:cNvPr id="72" name="Rectangle 71"/>
          <p:cNvSpPr/>
          <p:nvPr/>
        </p:nvSpPr>
        <p:spPr>
          <a:xfrm>
            <a:off x="3108960" y="3108960"/>
            <a:ext cx="8092440" cy="1016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850392" y="3282696"/>
            <a:ext cx="10506456" cy="10160"/>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60120" y="3401568"/>
            <a:ext cx="2011680" cy="292608"/>
          </a:xfrm>
          <a:prstGeom prst="rect">
            <a:avLst/>
          </a:prstGeom>
          <a:noFill/>
        </p:spPr>
        <p:txBody>
          <a:bodyPr wrap="none">
            <a:spAutoFit/>
          </a:bodyPr>
          <a:lstStyle/>
          <a:p>
            <a:pPr>
              <a:defRPr sz="1400" b="1">
                <a:solidFill>
                  <a:srgbClr val="232D3C"/>
                </a:solidFill>
              </a:defRPr>
            </a:pPr>
            <a:r>
              <a:t>Leader Name</a:t>
            </a:r>
          </a:p>
        </p:txBody>
      </p:sp>
      <p:sp>
        <p:nvSpPr>
          <p:cNvPr id="75" name="Rectangle 74"/>
          <p:cNvSpPr/>
          <p:nvPr/>
        </p:nvSpPr>
        <p:spPr>
          <a:xfrm>
            <a:off x="3108960" y="3675888"/>
            <a:ext cx="8092440" cy="1016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50392" y="3849624"/>
            <a:ext cx="10506456" cy="10160"/>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60120" y="3968496"/>
            <a:ext cx="2011680" cy="292608"/>
          </a:xfrm>
          <a:prstGeom prst="rect">
            <a:avLst/>
          </a:prstGeom>
          <a:noFill/>
        </p:spPr>
        <p:txBody>
          <a:bodyPr wrap="none">
            <a:spAutoFit/>
          </a:bodyPr>
          <a:lstStyle/>
          <a:p>
            <a:pPr>
              <a:defRPr sz="1400" b="1">
                <a:solidFill>
                  <a:srgbClr val="232D3C"/>
                </a:solidFill>
              </a:defRPr>
            </a:pPr>
            <a:r>
              <a:t>State</a:t>
            </a:r>
          </a:p>
        </p:txBody>
      </p:sp>
      <p:sp>
        <p:nvSpPr>
          <p:cNvPr id="78" name="Rectangle 77"/>
          <p:cNvSpPr/>
          <p:nvPr/>
        </p:nvSpPr>
        <p:spPr>
          <a:xfrm>
            <a:off x="3108960" y="4242816"/>
            <a:ext cx="8092440" cy="1016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850392" y="4416552"/>
            <a:ext cx="10506456" cy="10160"/>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60120" y="4535424"/>
            <a:ext cx="2011680" cy="292608"/>
          </a:xfrm>
          <a:prstGeom prst="rect">
            <a:avLst/>
          </a:prstGeom>
          <a:noFill/>
        </p:spPr>
        <p:txBody>
          <a:bodyPr wrap="none">
            <a:spAutoFit/>
          </a:bodyPr>
          <a:lstStyle/>
          <a:p>
            <a:pPr>
              <a:defRPr sz="1400" b="1">
                <a:solidFill>
                  <a:srgbClr val="232D3C"/>
                </a:solidFill>
              </a:defRPr>
            </a:pPr>
            <a:r>
              <a:t>Leader Mail ID</a:t>
            </a:r>
          </a:p>
        </p:txBody>
      </p:sp>
      <p:sp>
        <p:nvSpPr>
          <p:cNvPr id="81" name="Rectangle 80"/>
          <p:cNvSpPr/>
          <p:nvPr/>
        </p:nvSpPr>
        <p:spPr>
          <a:xfrm>
            <a:off x="3108960" y="4809744"/>
            <a:ext cx="8092440" cy="1016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2" name="Picture 81" descr="stampers_logo_letters_only.png"/>
          <p:cNvPicPr>
            <a:picLocks noChangeAspect="1"/>
          </p:cNvPicPr>
          <p:nvPr/>
        </p:nvPicPr>
        <p:blipFill>
          <a:blip r:embed="rId11"/>
          <a:stretch>
            <a:fillRect/>
          </a:stretch>
        </p:blipFill>
        <p:spPr>
          <a:xfrm>
            <a:off x="347472" y="182880"/>
            <a:ext cx="1325880" cy="182880"/>
          </a:xfrm>
          <a:prstGeom prst="rect">
            <a:avLst/>
          </a:prstGeom>
        </p:spPr>
      </p:pic>
      <p:sp>
        <p:nvSpPr>
          <p:cNvPr id="83" name="Val_TeamName"/>
          <p:cNvSpPr txBox="1"/>
          <p:nvPr/>
        </p:nvSpPr>
        <p:spPr>
          <a:xfrm>
            <a:off x="3200000" y="2267712"/>
            <a:ext cx="7800000" cy="292608"/>
          </a:xfrm>
          <a:prstGeom prst="rect">
            <a:avLst/>
          </a:prstGeom>
          <a:noFill/>
        </p:spPr>
        <p:txBody>
          <a:bodyPr wrap="none" lIns="0" rIns="0" tIns="0" bIns="0">
            <a:spAutoFit/>
          </a:bodyPr>
          <a:lstStyle/>
          <a:p>
            <a:pPr>
              <a:defRPr sz="1400" b="1">
                <a:solidFill>
                  <a:srgbClr val="232D3C"/>
                </a:solidFill>
                <a:latin typeface="Aptos"/>
              </a:defRPr>
            </a:pPr>
            <a:r>
              <a:t>Non Challengers</a:t>
            </a:r>
          </a:p>
        </p:txBody>
      </p:sp>
      <p:sp>
        <p:nvSpPr>
          <p:cNvPr id="84" name="Val_ClgName"/>
          <p:cNvSpPr txBox="1"/>
          <p:nvPr/>
        </p:nvSpPr>
        <p:spPr>
          <a:xfrm>
            <a:off x="3200000" y="2834640"/>
            <a:ext cx="7800000" cy="292608"/>
          </a:xfrm>
          <a:prstGeom prst="rect">
            <a:avLst/>
          </a:prstGeom>
          <a:noFill/>
        </p:spPr>
        <p:txBody>
          <a:bodyPr wrap="none" lIns="0" rIns="0" tIns="0" bIns="0">
            <a:spAutoFit/>
          </a:bodyPr>
          <a:lstStyle/>
          <a:p>
            <a:pPr>
              <a:defRPr sz="1400" b="1">
                <a:solidFill>
                  <a:srgbClr val="232D3C"/>
                </a:solidFill>
                <a:latin typeface="Aptos"/>
              </a:defRPr>
            </a:pPr>
            <a:r>
              <a:t>IIITDM Kancheepuram</a:t>
            </a:r>
          </a:p>
        </p:txBody>
      </p:sp>
      <p:sp>
        <p:nvSpPr>
          <p:cNvPr id="85" name="Val_LeaderName"/>
          <p:cNvSpPr txBox="1"/>
          <p:nvPr/>
        </p:nvSpPr>
        <p:spPr>
          <a:xfrm>
            <a:off x="3200000" y="3401568"/>
            <a:ext cx="7800000" cy="292608"/>
          </a:xfrm>
          <a:prstGeom prst="rect">
            <a:avLst/>
          </a:prstGeom>
          <a:noFill/>
        </p:spPr>
        <p:txBody>
          <a:bodyPr wrap="none" lIns="0" rIns="0" tIns="0" bIns="0">
            <a:spAutoFit/>
          </a:bodyPr>
          <a:lstStyle/>
          <a:p>
            <a:pPr>
              <a:defRPr sz="1400" b="1">
                <a:solidFill>
                  <a:srgbClr val="232D3C"/>
                </a:solidFill>
                <a:latin typeface="Aptos"/>
              </a:defRPr>
            </a:pPr>
            <a:r>
              <a:t>Pratyush Singh</a:t>
            </a:r>
          </a:p>
        </p:txBody>
      </p:sp>
      <p:sp>
        <p:nvSpPr>
          <p:cNvPr id="86" name="Val_State"/>
          <p:cNvSpPr txBox="1"/>
          <p:nvPr/>
        </p:nvSpPr>
        <p:spPr>
          <a:xfrm>
            <a:off x="3200000" y="3968496"/>
            <a:ext cx="7800000" cy="292608"/>
          </a:xfrm>
          <a:prstGeom prst="rect">
            <a:avLst/>
          </a:prstGeom>
          <a:noFill/>
        </p:spPr>
        <p:txBody>
          <a:bodyPr wrap="none" lIns="0" rIns="0" tIns="0" bIns="0">
            <a:spAutoFit/>
          </a:bodyPr>
          <a:lstStyle/>
          <a:p>
            <a:pPr>
              <a:defRPr sz="1400" b="1">
                <a:solidFill>
                  <a:srgbClr val="232D3C"/>
                </a:solidFill>
                <a:latin typeface="Aptos"/>
              </a:defRPr>
            </a:pPr>
            <a:r>
              <a:t>Tamil Nadu</a:t>
            </a:r>
          </a:p>
        </p:txBody>
      </p:sp>
      <p:sp>
        <p:nvSpPr>
          <p:cNvPr id="87" name="Val_LeaderEmail"/>
          <p:cNvSpPr txBox="1"/>
          <p:nvPr/>
        </p:nvSpPr>
        <p:spPr>
          <a:xfrm>
            <a:off x="3200000" y="4535424"/>
            <a:ext cx="7800000" cy="292608"/>
          </a:xfrm>
          <a:prstGeom prst="rect">
            <a:avLst/>
          </a:prstGeom>
          <a:noFill/>
        </p:spPr>
        <p:txBody>
          <a:bodyPr wrap="none" lIns="0" rIns="0" tIns="0" bIns="0">
            <a:spAutoFit/>
          </a:bodyPr>
          <a:lstStyle/>
          <a:p>
            <a:pPr>
              <a:defRPr sz="1400" b="1">
                <a:solidFill>
                  <a:srgbClr val="232D3C"/>
                </a:solidFill>
                <a:latin typeface="Aptos"/>
              </a:defRPr>
            </a:pPr>
            <a:r>
              <a:t>cs25i1064@iiitdm.ac.in</a:t>
            </a:r>
          </a:p>
        </p:txBody>
      </p:sp>
      <p:sp>
        <p:nvSpPr>
          <p:cNvPr id="88" name="Team_Members_Card"/>
          <p:cNvSpPr/>
          <p:nvPr/>
        </p:nvSpPr>
        <p:spPr>
          <a:xfrm>
            <a:off x="685800" y="5080000"/>
            <a:ext cx="10835640" cy="1320000"/>
          </a:xfrm>
          <a:prstGeom prst="roundRect">
            <a:avLst/>
          </a:prstGeom>
          <a:solidFill>
            <a:srgbClr val="FAFAFA"/>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am_Members_Divider"/>
          <p:cNvSpPr/>
          <p:nvPr/>
        </p:nvSpPr>
        <p:spPr>
          <a:xfrm>
            <a:off x="5900000" y="5200000"/>
            <a:ext cx="10160" cy="1080000"/>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am_Members_Left"/>
          <p:cNvSpPr txBox="1"/>
          <p:nvPr/>
        </p:nvSpPr>
        <p:spPr>
          <a:xfrm>
            <a:off x="960120" y="5160000"/>
            <a:ext cx="4800000" cy="1150000"/>
          </a:xfrm>
          <a:prstGeom prst="rect">
            <a:avLst/>
          </a:prstGeom>
          <a:noFill/>
        </p:spPr>
        <p:txBody>
          <a:bodyPr wrap="square" lIns="0" rIns="0" tIns="0" bIns="0">
            <a:spAutoFit/>
          </a:bodyPr>
          <a:lstStyle/>
          <a:p>
            <a:pPr>
              <a:spcAft>
                <a:spcPts val="400"/>
              </a:spcAft>
              <a:defRPr sz="1100" b="1">
                <a:solidFill>
                  <a:srgbClr val="2563EB"/>
                </a:solidFill>
                <a:latin typeface="Aptos"/>
              </a:defRPr>
            </a:pPr>
            <a:r>
              <a:t>TEAM MEMBERS (CONTRIBUTORS)</a:t>
            </a:r>
          </a:p>
          <a:p>
            <a:pPr>
              <a:spcAft>
                <a:spcPts val="300"/>
              </a:spcAft>
            </a:pPr>
            <a:r>
              <a:rPr sz="1250" b="1">
                <a:solidFill>
                  <a:srgbClr val="232D3C"/>
                </a:solidFill>
                <a:latin typeface="Aptos"/>
              </a:rPr>
              <a:t>Member 2: </a:t>
            </a:r>
            <a:r>
              <a:rPr sz="1250" b="0">
                <a:solidFill>
                  <a:srgbClr val="1E293B"/>
                </a:solidFill>
                <a:latin typeface="Aptos"/>
              </a:rPr>
              <a:t>Pooraw Kumar Dhurwey</a:t>
            </a:r>
          </a:p>
          <a:p>
            <a:pPr>
              <a:spcAft>
                <a:spcPts val="300"/>
              </a:spcAft>
            </a:pPr>
            <a:r>
              <a:rPr sz="1250" b="1">
                <a:solidFill>
                  <a:srgbClr val="232D3C"/>
                </a:solidFill>
                <a:latin typeface="Aptos"/>
              </a:rPr>
              <a:t>Member 3: </a:t>
            </a:r>
            <a:r>
              <a:rPr sz="1250" b="0">
                <a:solidFill>
                  <a:srgbClr val="1E293B"/>
                </a:solidFill>
                <a:latin typeface="Aptos"/>
              </a:rPr>
              <a:t>Spandan Saha</a:t>
            </a:r>
          </a:p>
          <a:p>
            <a:pPr>
              <a:spcAft>
                <a:spcPts val="300"/>
              </a:spcAft>
            </a:pPr>
            <a:r>
              <a:rPr sz="1250" b="1">
                <a:solidFill>
                  <a:srgbClr val="232D3C"/>
                </a:solidFill>
                <a:latin typeface="Aptos"/>
              </a:rPr>
              <a:t>Member 4: </a:t>
            </a:r>
            <a:r>
              <a:rPr sz="1250" b="0">
                <a:solidFill>
                  <a:srgbClr val="1E293B"/>
                </a:solidFill>
                <a:latin typeface="Aptos"/>
              </a:rPr>
              <a:t>Surabhi Sri Vyshnavi</a:t>
            </a:r>
          </a:p>
        </p:txBody>
      </p:sp>
      <p:sp>
        <p:nvSpPr>
          <p:cNvPr id="91" name="Team_Members_Right"/>
          <p:cNvSpPr txBox="1"/>
          <p:nvPr/>
        </p:nvSpPr>
        <p:spPr>
          <a:xfrm>
            <a:off x="6100000" y="5160000"/>
            <a:ext cx="5200000" cy="1150000"/>
          </a:xfrm>
          <a:prstGeom prst="rect">
            <a:avLst/>
          </a:prstGeom>
          <a:noFill/>
        </p:spPr>
        <p:txBody>
          <a:bodyPr wrap="square" lIns="0" rIns="0" tIns="0" bIns="0">
            <a:spAutoFit/>
          </a:bodyPr>
          <a:lstStyle/>
          <a:p>
            <a:pPr>
              <a:spcAft>
                <a:spcPts val="400"/>
              </a:spcAft>
              <a:defRPr sz="1100" b="1">
                <a:solidFill>
                  <a:srgbClr val="2563EB"/>
                </a:solidFill>
                <a:latin typeface="Aptos"/>
              </a:defRPr>
            </a:pPr>
            <a:r>
              <a:t>PROJECT DETAILS &amp; LIVE DEMO</a:t>
            </a:r>
          </a:p>
          <a:p>
            <a:pPr>
              <a:spcAft>
                <a:spcPts val="300"/>
              </a:spcAft>
            </a:pPr>
            <a:r>
              <a:rPr sz="1200" b="1">
                <a:solidFill>
                  <a:srgbClr val="232D3C"/>
                </a:solidFill>
                <a:latin typeface="Aptos"/>
              </a:rPr>
              <a:t>Project: </a:t>
            </a:r>
            <a:r>
              <a:rPr sz="1200" b="0">
                <a:solidFill>
                  <a:srgbClr val="1E293B"/>
                </a:solidFill>
                <a:latin typeface="Aptos"/>
              </a:rPr>
              <a:t>GapFill — Intelligent Knowledge Gap Engine</a:t>
            </a:r>
          </a:p>
          <a:p>
            <a:pPr>
              <a:spcAft>
                <a:spcPts val="300"/>
              </a:spcAft>
            </a:pPr>
            <a:r>
              <a:rPr sz="1150" b="1">
                <a:solidFill>
                  <a:srgbClr val="059669"/>
                </a:solidFill>
                <a:latin typeface="Aptos"/>
              </a:rPr>
              <a:t>Live App: </a:t>
            </a:r>
            <a:r>
              <a:rPr sz="1150" b="0">
                <a:solidFill>
                  <a:srgbClr val="2563EB"/>
                </a:solidFill>
                <a:latin typeface="Aptos"/>
              </a:rPr>
              <a:t>https://pratyush-singh123.github.io/Study-Planner/</a:t>
            </a:r>
          </a:p>
          <a:p>
            <a:r>
              <a:rPr sz="1150" b="1">
                <a:solidFill>
                  <a:srgbClr val="475569"/>
                </a:solidFill>
                <a:latin typeface="Aptos"/>
              </a:rPr>
              <a:t>GitHub: </a:t>
            </a:r>
            <a:r>
              <a:rPr sz="1150" b="0">
                <a:solidFill>
                  <a:srgbClr val="475569"/>
                </a:solidFill>
                <a:latin typeface="Aptos"/>
              </a:rPr>
              <a:t>https://github.com/Pratyush-Singh123/Study-Planner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5" name="Picture 54" descr="1000258662.png"/>
          <p:cNvPicPr>
            <a:picLocks noChangeAspect="1"/>
          </p:cNvPicPr>
          <p:nvPr/>
        </p:nvPicPr>
        <p:blipFill>
          <a:blip r:embed="rId9"/>
          <a:stretch>
            <a:fillRect/>
          </a:stretch>
        </p:blipFill>
        <p:spPr>
          <a:xfrm>
            <a:off x="0" y="0"/>
            <a:ext cx="12191999" cy="6858000"/>
          </a:xfrm>
          <a:prstGeom prst="rect">
            <a:avLst/>
          </a:prstGeom>
        </p:spPr>
      </p:pic>
      <p:sp>
        <p:nvSpPr>
          <p:cNvPr id="52" name="Rectangle 5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stampers_watermark_final.png"/>
          <p:cNvPicPr>
            <a:picLocks noChangeAspect="1"/>
          </p:cNvPicPr>
          <p:nvPr/>
        </p:nvPicPr>
        <p:blipFill>
          <a:blip r:embed="rId8"/>
          <a:stretch>
            <a:fillRect/>
          </a:stretch>
        </p:blipFill>
        <p:spPr>
          <a:xfrm>
            <a:off x="2331720" y="1051560"/>
            <a:ext cx="6583680" cy="6583680"/>
          </a:xfrm>
          <a:prstGeom prst="rect">
            <a:avLst/>
          </a:prstGeom>
        </p:spPr>
      </p:pic>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914400"/>
            <a:ext cx="11411712" cy="13716"/>
          </a:xfrm>
          <a:prstGeom prst="rect">
            <a:avLst/>
          </a:prstGeom>
          <a:solidFill>
            <a:srgbClr val="D7A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 y="1078992"/>
            <a:ext cx="8046720" cy="502920"/>
          </a:xfrm>
          <a:prstGeom prst="rect">
            <a:avLst/>
          </a:prstGeom>
          <a:noFill/>
        </p:spPr>
        <p:txBody>
          <a:bodyPr wrap="none">
            <a:spAutoFit/>
          </a:bodyPr>
          <a:lstStyle/>
          <a:p>
            <a:pPr>
              <a:defRPr b="1" sz="2400">
                <a:solidFill>
                  <a:srgbClr val="F5F7FA"/>
                </a:solidFill>
                <a:latin typeface="Aptos Display"/>
              </a:defRPr>
            </a:pPr>
            <a:r>
              <a:rPr>
                <a:solidFill>
                  <a:srgbClr val="111827"/>
                </a:solidFill>
              </a:rPr>
              <a:t>02  |  PROBLEM STATEMENT</a:t>
            </a:r>
          </a:p>
        </p:txBody>
      </p:sp>
      <p:sp>
        <p:nvSpPr>
          <p:cNvPr id="7" name="Rectangle 6"/>
          <p:cNvSpPr/>
          <p:nvPr/>
        </p:nvSpPr>
        <p:spPr>
          <a:xfrm>
            <a:off x="457200" y="1627632"/>
            <a:ext cx="713232" cy="32004"/>
          </a:xfrm>
          <a:prstGeom prst="rect">
            <a:avLst/>
          </a:prstGeom>
          <a:solidFill>
            <a:srgbClr val="D7A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0" y="347472"/>
            <a:ext cx="3154680" cy="274320"/>
          </a:xfrm>
          <a:prstGeom prst="rect">
            <a:avLst/>
          </a:prstGeom>
          <a:noFill/>
        </p:spPr>
        <p:txBody>
          <a:bodyPr wrap="none">
            <a:spAutoFit/>
          </a:bodyPr>
          <a:lstStyle/>
          <a:p>
            <a:pPr algn="r">
              <a:defRPr b="1" sz="800">
                <a:solidFill>
                  <a:srgbClr val="F2C45B"/>
                </a:solidFill>
                <a:latin typeface="Aptos"/>
              </a:defRPr>
            </a:pPr>
            <a:r>
              <a:rPr>
                <a:solidFill/>
              </a:rPr>
              <a:t>AXION HACKATHON  •  PPT TEMPLATE  •  03 / 06</a:t>
            </a:r>
          </a:p>
        </p:txBody>
      </p:sp>
      <p:sp>
        <p:nvSpPr>
          <p:cNvPr id="48" name="Rectangle 47"/>
          <p:cNvSpPr/>
          <p:nvPr/>
        </p:nvSpPr>
        <p:spPr>
          <a:xfrm>
            <a:off x="457200" y="6492240"/>
            <a:ext cx="11247120" cy="9144"/>
          </a:xfrm>
          <a:prstGeom prst="rect">
            <a:avLst/>
          </a:prstGeom>
          <a:solidFill>
            <a:srgbClr val="313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6528816"/>
            <a:ext cx="7315200" cy="182880"/>
          </a:xfrm>
          <a:prstGeom prst="rect">
            <a:avLst/>
          </a:prstGeom>
          <a:noFill/>
        </p:spPr>
        <p:txBody>
          <a:bodyPr wrap="none">
            <a:spAutoFit/>
          </a:bodyPr>
          <a:lstStyle/>
          <a:p>
            <a:pPr>
              <a:defRPr sz="700">
                <a:solidFill>
                  <a:srgbClr val="9EA6B2"/>
                </a:solidFill>
                <a:latin typeface="Aptos"/>
              </a:defRPr>
            </a:pPr>
            <a:r>
              <a:rPr>
                <a:solidFill/>
              </a:rPr>
              <a:t>STAY CLEAR  •  STAY STRUCTURED  •  LET YOUR IDEA SPEAK</a:t>
            </a:r>
          </a:p>
        </p:txBody>
      </p:sp>
      <p:sp>
        <p:nvSpPr>
          <p:cNvPr id="50" name="TextBox 49"/>
          <p:cNvSpPr txBox="1"/>
          <p:nvPr/>
        </p:nvSpPr>
        <p:spPr>
          <a:xfrm>
            <a:off x="10515600" y="6528816"/>
            <a:ext cx="1188720" cy="182880"/>
          </a:xfrm>
          <a:prstGeom prst="rect">
            <a:avLst/>
          </a:prstGeom>
          <a:noFill/>
        </p:spPr>
        <p:txBody>
          <a:bodyPr wrap="none">
            <a:spAutoFit/>
          </a:bodyPr>
          <a:lstStyle/>
          <a:p>
            <a:pPr algn="r">
              <a:defRPr sz="700">
                <a:solidFill>
                  <a:srgbClr val="9EA6B2"/>
                </a:solidFill>
                <a:latin typeface="Aptos"/>
              </a:defRPr>
            </a:pPr>
            <a:r>
              <a:rPr>
                <a:solidFill/>
              </a:rPr>
              <a:t>03 / 06</a:t>
            </a:r>
          </a:p>
        </p:txBody>
      </p:sp>
      <p:pic>
        <p:nvPicPr>
          <p:cNvPr id="56" name="Picture 55" descr="stampers_logo_letters_only.png"/>
          <p:cNvPicPr>
            <a:picLocks noChangeAspect="1"/>
          </p:cNvPicPr>
          <p:nvPr/>
        </p:nvPicPr>
        <p:blipFill>
          <a:blip r:embed="rId11"/>
          <a:stretch>
            <a:fillRect/>
          </a:stretch>
        </p:blipFill>
        <p:spPr>
          <a:xfrm>
            <a:off x="347472" y="182880"/>
            <a:ext cx="1325880" cy="182880"/>
          </a:xfrm>
          <a:prstGeom prst="rect">
            <a:avLst/>
          </a:prstGeom>
        </p:spPr>
      </p:pic>
      <p:sp>
        <p:nvSpPr>
          <p:cNvPr id="999" name="ContentBox"/>
          <p:cNvSpPr txBox="1"/>
          <p:nvPr/>
        </p:nvSpPr>
        <p:spPr>
          <a:xfrm>
            <a:off x="457200" y="1700000"/>
            <a:ext cx="11200000" cy="4600000"/>
          </a:xfrm>
          <a:prstGeom prst="rect">
            <a:avLst/>
          </a:prstGeom>
          <a:noFill/>
        </p:spPr>
        <p:txBody>
          <a:bodyPr wrap="square" rtlCol="0">
            <a:spAutoFit/>
          </a:bodyPr>
          <a:lstStyle/>
          <a:p>
            <a:pPr>
              <a:buNone/>
            </a:pPr>
            <a:r>
              <a:rPr lang="en-US" sz="1600" b="1">
                <a:solidFill>
                  <a:srgbClr val="D7A62A"/>
                </a:solidFill>
                <a:latin typeface="Aptos"/>
              </a:rPr>
              <a:t>The Core Problem</a:t>
            </a:r>
          </a:p>
          <a:p>
            <a:pPr>
              <a:buNone/>
            </a:pPr>
            <a:r>
              <a:rPr lang="en-US" sz="800">
                <a:solidFill>
                  <a:srgbClr val="111827"/>
                </a:solidFill>
                <a:latin typeface="Aptos"/>
              </a:rPr>
              <a:t/>
            </a:r>
          </a:p>
          <a:p>
            <a:pPr>
              <a:buNone/>
            </a:pPr>
            <a:r>
              <a:rPr lang="en-US" sz="1100">
                <a:solidFill>
                  <a:srgbClr val="333333"/>
                </a:solidFill>
                <a:latin typeface="Aptos"/>
              </a:rPr>
              <a:t>Students want to master their entire syllabus independently — but they struggle to find targeted explanations, identify true conceptual gaps, and evaluate their actual readiness.</a:t>
            </a:r>
          </a:p>
          <a:p>
            <a:pPr>
              <a:buNone/>
            </a:pPr>
            <a:r>
              <a:rPr lang="en-US" sz="600">
                <a:solidFill>
                  <a:srgbClr val="111827"/>
                </a:solidFill>
                <a:latin typeface="Aptos"/>
              </a:rPr>
              <a:t/>
            </a:r>
          </a:p>
          <a:p>
            <a:pPr>
              <a:buNone/>
            </a:pPr>
            <a:r>
              <a:rPr lang="en-US" sz="1300" b="1">
                <a:solidFill>
                  <a:srgbClr val="111827"/>
                </a:solidFill>
                <a:latin typeface="Aptos"/>
              </a:rPr>
              <a:t>Four Broken Links in Every Student's Learning Loop</a:t>
            </a:r>
          </a:p>
          <a:p>
            <a:pPr>
              <a:buNone/>
            </a:pPr>
            <a:r>
              <a:rPr lang="en-US" sz="600">
                <a:solidFill>
                  <a:srgbClr val="111827"/>
                </a:solidFill>
                <a:latin typeface="Aptos"/>
              </a:rPr>
              <a:t/>
            </a:r>
          </a:p>
          <a:p>
            <a:pPr>
              <a:buChar char="▪"/>
            </a:pPr>
            <a:r>
              <a:rPr lang="en-US" sz="1050">
                <a:solidFill>
                  <a:srgbClr val="444444"/>
                </a:solidFill>
                <a:latin typeface="Aptos"/>
              </a:rPr>
              <a:t>Fragmented exam patterns hinder independent prioritization — Past exam papers are scattered across informal groups or unavailable. Without clear frequency data, students struggle to make informed decisions on which topics deserve their self-directed focus.</a:t>
            </a:r>
          </a:p>
          <a:p>
            <a:pPr>
              <a:buNone/>
            </a:pPr>
            <a:r>
              <a:rPr lang="en-US" sz="500">
                <a:solidFill>
                  <a:srgbClr val="111827"/>
                </a:solidFill>
                <a:latin typeface="Aptos"/>
              </a:rPr>
              <a:t/>
            </a:r>
          </a:p>
          <a:p>
            <a:pPr>
              <a:buChar char="▪"/>
            </a:pPr>
            <a:r>
              <a:rPr lang="en-US" sz="1050">
                <a:solidFill>
                  <a:srgbClr val="444444"/>
                </a:solidFill>
                <a:latin typeface="Aptos"/>
              </a:rPr>
              <a:t>Time wasted hunting for targeted concept explanations — When tackling difficult concepts independently, students waste hours sifting through generic videos and textbooks instead of accessing focused conceptual guidance that builds intuition.</a:t>
            </a:r>
          </a:p>
          <a:p>
            <a:pPr>
              <a:buNone/>
            </a:pPr>
            <a:r>
              <a:rPr lang="en-US" sz="500">
                <a:solidFill>
                  <a:srgbClr val="111827"/>
                </a:solidFill>
                <a:latin typeface="Aptos"/>
              </a:rPr>
              <a:t/>
            </a:r>
          </a:p>
          <a:p>
            <a:pPr>
              <a:buChar char="▪"/>
            </a:pPr>
            <a:r>
              <a:rPr lang="en-US" sz="1050">
                <a:solidFill>
                  <a:srgbClr val="444444"/>
                </a:solidFill>
                <a:latin typeface="Aptos"/>
              </a:rPr>
              <a:t>Flawed self-assessment without diagnostic evidence — Independent learners often assume they understand a concept ("I think I know this"), but without objective diagnostic tracking, underlying blind spots stay hidden until exam day.</a:t>
            </a:r>
          </a:p>
          <a:p>
            <a:pPr>
              <a:buNone/>
            </a:pPr>
            <a:r>
              <a:rPr lang="en-US" sz="500">
                <a:solidFill>
                  <a:srgbClr val="111827"/>
                </a:solidFill>
                <a:latin typeface="Aptos"/>
              </a:rPr>
              <a:t/>
            </a:r>
          </a:p>
          <a:p>
            <a:pPr>
              <a:buChar char="▪"/>
            </a:pPr>
            <a:r>
              <a:rPr lang="en-US" sz="1050">
                <a:solidFill>
                  <a:srgbClr val="444444"/>
                </a:solidFill>
                <a:latin typeface="Aptos"/>
              </a:rPr>
              <a:t>Surface-level answer checking instead of concept diagnosis — Standard practice platforms reveal correct answers without diagnosing why reasoning broke down, creating answer dependency rather than building strong mental models.</a:t>
            </a:r>
          </a:p>
          <a:p>
            <a:pPr>
              <a:buNone/>
            </a:pPr>
            <a:r>
              <a:rPr lang="en-US" sz="600">
                <a:solidFill>
                  <a:srgbClr val="111827"/>
                </a:solidFill>
                <a:latin typeface="Aptos"/>
              </a:rPr>
              <a:t/>
            </a:r>
          </a:p>
          <a:p>
            <a:pPr>
              <a:buNone/>
            </a:pPr>
            <a:r>
              <a:rPr lang="en-US" sz="1300" b="1">
                <a:solidFill>
                  <a:srgbClr val="111827"/>
                </a:solidFill>
                <a:latin typeface="Aptos"/>
              </a:rPr>
              <a:t>Who This Affects</a:t>
            </a:r>
          </a:p>
          <a:p>
            <a:pPr>
              <a:buNone/>
            </a:pPr>
            <a:r>
              <a:rPr lang="en-US" sz="500">
                <a:solidFill>
                  <a:srgbClr val="111827"/>
                </a:solidFill>
                <a:latin typeface="Aptos"/>
              </a:rPr>
              <a:t/>
            </a:r>
          </a:p>
          <a:p>
            <a:pPr>
              <a:buNone/>
            </a:pPr>
            <a:r>
              <a:rPr lang="en-US" sz="1050">
                <a:solidFill>
                  <a:srgbClr val="444444"/>
                </a:solidFill>
                <a:latin typeface="Aptos"/>
              </a:rPr>
              <a:t>Independent learners and college students preparing for exams — especially in technical fields like CSE, where concepts build sequentially and unaddressed conceptual gaps cascade.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9" name="Picture 58" descr="1000258662.png"/>
          <p:cNvPicPr>
            <a:picLocks noChangeAspect="1"/>
          </p:cNvPicPr>
          <p:nvPr/>
        </p:nvPicPr>
        <p:blipFill>
          <a:blip r:embed="rId9"/>
          <a:stretch>
            <a:fillRect/>
          </a:stretch>
        </p:blipFill>
        <p:spPr>
          <a:xfrm>
            <a:off x="0" y="0"/>
            <a:ext cx="12191999" cy="6858000"/>
          </a:xfrm>
          <a:prstGeom prst="rect">
            <a:avLst/>
          </a:prstGeom>
        </p:spPr>
      </p:pic>
      <p:sp>
        <p:nvSpPr>
          <p:cNvPr id="56" name="Rectangle 55"/>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stampers_watermark_final.png"/>
          <p:cNvPicPr>
            <a:picLocks noChangeAspect="1"/>
          </p:cNvPicPr>
          <p:nvPr/>
        </p:nvPicPr>
        <p:blipFill>
          <a:blip r:embed="rId8"/>
          <a:stretch>
            <a:fillRect/>
          </a:stretch>
        </p:blipFill>
        <p:spPr>
          <a:xfrm>
            <a:off x="2331720" y="1051560"/>
            <a:ext cx="6583680" cy="6583680"/>
          </a:xfrm>
          <a:prstGeom prst="rect">
            <a:avLst/>
          </a:prstGeom>
        </p:spPr>
      </p:pic>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914400"/>
            <a:ext cx="11411712" cy="13716"/>
          </a:xfrm>
          <a:prstGeom prst="rect">
            <a:avLst/>
          </a:prstGeom>
          <a:solidFill>
            <a:srgbClr val="D7A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 y="1078992"/>
            <a:ext cx="8046720" cy="502920"/>
          </a:xfrm>
          <a:prstGeom prst="rect">
            <a:avLst/>
          </a:prstGeom>
          <a:noFill/>
        </p:spPr>
        <p:txBody>
          <a:bodyPr wrap="none">
            <a:spAutoFit/>
          </a:bodyPr>
          <a:lstStyle/>
          <a:p>
            <a:pPr>
              <a:defRPr b="1" sz="2400">
                <a:solidFill>
                  <a:srgbClr val="F5F7FA"/>
                </a:solidFill>
                <a:latin typeface="Aptos Display"/>
              </a:defRPr>
            </a:pPr>
            <a:r>
              <a:rPr>
                <a:solidFill>
                  <a:srgbClr val="111827"/>
                </a:solidFill>
              </a:rPr>
              <a:t>03  |  SOLUTION APPROACH</a:t>
            </a:r>
          </a:p>
        </p:txBody>
      </p:sp>
      <p:sp>
        <p:nvSpPr>
          <p:cNvPr id="7" name="Rectangle 6"/>
          <p:cNvSpPr/>
          <p:nvPr/>
        </p:nvSpPr>
        <p:spPr>
          <a:xfrm>
            <a:off x="457200" y="1627632"/>
            <a:ext cx="713232" cy="32004"/>
          </a:xfrm>
          <a:prstGeom prst="rect">
            <a:avLst/>
          </a:prstGeom>
          <a:solidFill>
            <a:srgbClr val="D7A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0" y="347472"/>
            <a:ext cx="3154680" cy="274320"/>
          </a:xfrm>
          <a:prstGeom prst="rect">
            <a:avLst/>
          </a:prstGeom>
          <a:noFill/>
        </p:spPr>
        <p:txBody>
          <a:bodyPr wrap="none">
            <a:spAutoFit/>
          </a:bodyPr>
          <a:lstStyle/>
          <a:p>
            <a:pPr algn="r">
              <a:defRPr b="1" sz="800">
                <a:solidFill>
                  <a:srgbClr val="F2C45B"/>
                </a:solidFill>
                <a:latin typeface="Aptos"/>
              </a:defRPr>
            </a:pPr>
            <a:r>
              <a:rPr>
                <a:solidFill/>
              </a:rPr>
              <a:t>AXION HACKATHON  •  PPT TEMPLATE  •  04 / 06</a:t>
            </a:r>
          </a:p>
        </p:txBody>
      </p:sp>
      <p:sp>
        <p:nvSpPr>
          <p:cNvPr id="52" name="Rectangle 51"/>
          <p:cNvSpPr/>
          <p:nvPr/>
        </p:nvSpPr>
        <p:spPr>
          <a:xfrm>
            <a:off x="457200" y="6492240"/>
            <a:ext cx="11247120" cy="9144"/>
          </a:xfrm>
          <a:prstGeom prst="rect">
            <a:avLst/>
          </a:prstGeom>
          <a:solidFill>
            <a:srgbClr val="313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57200" y="6528816"/>
            <a:ext cx="7315200" cy="182880"/>
          </a:xfrm>
          <a:prstGeom prst="rect">
            <a:avLst/>
          </a:prstGeom>
          <a:noFill/>
        </p:spPr>
        <p:txBody>
          <a:bodyPr wrap="none">
            <a:spAutoFit/>
          </a:bodyPr>
          <a:lstStyle/>
          <a:p>
            <a:pPr>
              <a:defRPr sz="700">
                <a:solidFill>
                  <a:srgbClr val="9EA6B2"/>
                </a:solidFill>
                <a:latin typeface="Aptos"/>
              </a:defRPr>
            </a:pPr>
            <a:r>
              <a:rPr>
                <a:solidFill/>
              </a:rPr>
              <a:t>STAY CLEAR  •  STAY STRUCTURED  •  LET YOUR IDEA SPEAK</a:t>
            </a:r>
          </a:p>
        </p:txBody>
      </p:sp>
      <p:sp>
        <p:nvSpPr>
          <p:cNvPr id="54" name="TextBox 53"/>
          <p:cNvSpPr txBox="1"/>
          <p:nvPr/>
        </p:nvSpPr>
        <p:spPr>
          <a:xfrm>
            <a:off x="10515600" y="6528816"/>
            <a:ext cx="1188720" cy="182880"/>
          </a:xfrm>
          <a:prstGeom prst="rect">
            <a:avLst/>
          </a:prstGeom>
          <a:noFill/>
        </p:spPr>
        <p:txBody>
          <a:bodyPr wrap="none">
            <a:spAutoFit/>
          </a:bodyPr>
          <a:lstStyle/>
          <a:p>
            <a:pPr algn="r">
              <a:defRPr sz="700">
                <a:solidFill>
                  <a:srgbClr val="9EA6B2"/>
                </a:solidFill>
                <a:latin typeface="Aptos"/>
              </a:defRPr>
            </a:pPr>
            <a:r>
              <a:rPr>
                <a:solidFill/>
              </a:rPr>
              <a:t>04 / 06</a:t>
            </a:r>
          </a:p>
        </p:txBody>
      </p:sp>
      <p:pic>
        <p:nvPicPr>
          <p:cNvPr id="60" name="Picture 59" descr="stampers_logo_letters_only.png"/>
          <p:cNvPicPr>
            <a:picLocks noChangeAspect="1"/>
          </p:cNvPicPr>
          <p:nvPr/>
        </p:nvPicPr>
        <p:blipFill>
          <a:blip r:embed="rId11"/>
          <a:stretch>
            <a:fillRect/>
          </a:stretch>
        </p:blipFill>
        <p:spPr>
          <a:xfrm>
            <a:off x="347472" y="182880"/>
            <a:ext cx="1325880" cy="182880"/>
          </a:xfrm>
          <a:prstGeom prst="rect">
            <a:avLst/>
          </a:prstGeom>
        </p:spPr>
      </p:pic>
      <p:sp>
        <p:nvSpPr>
          <p:cNvPr id="999" name="ContentBox"/>
          <p:cNvSpPr txBox="1"/>
          <p:nvPr/>
        </p:nvSpPr>
        <p:spPr>
          <a:xfrm>
            <a:off x="457200" y="1700000"/>
            <a:ext cx="11200000" cy="4600000"/>
          </a:xfrm>
          <a:prstGeom prst="rect">
            <a:avLst/>
          </a:prstGeom>
          <a:noFill/>
        </p:spPr>
        <p:txBody>
          <a:bodyPr wrap="square" rtlCol="0">
            <a:spAutoFit/>
          </a:bodyPr>
          <a:lstStyle/>
          <a:p>
            <a:pPr>
              <a:buNone/>
            </a:pPr>
            <a:r>
              <a:rPr lang="en-US" sz="1600" b="1">
                <a:solidFill>
                  <a:srgbClr val="D7A62A"/>
                </a:solidFill>
                <a:latin typeface="Aptos"/>
              </a:rPr>
              <a:t>GapFill — Know What You Don't Know</a:t>
            </a:r>
          </a:p>
          <a:p>
            <a:pPr>
              <a:buNone/>
            </a:pPr>
            <a:r>
              <a:rPr lang="en-US" sz="800">
                <a:solidFill>
                  <a:srgbClr val="111827"/>
                </a:solidFill>
                <a:latin typeface="Aptos"/>
              </a:rPr>
              <a:t/>
            </a:r>
          </a:p>
          <a:p>
            <a:pPr>
              <a:buNone/>
            </a:pPr>
            <a:r>
              <a:rPr lang="en-US" sz="1100">
                <a:solidFill>
                  <a:srgbClr val="333333"/>
                </a:solidFill>
                <a:latin typeface="Aptos"/>
              </a:rPr>
              <a:t>GapFill is an AI-powered learning companion that takes your syllabus, maps it to curated resources and past exam questions, tracks your knowledge gaps in real time, and explains exactly why your answers are wrong — not just what the right answer is.</a:t>
            </a:r>
          </a:p>
          <a:p>
            <a:pPr>
              <a:buNone/>
            </a:pPr>
            <a:r>
              <a:rPr lang="en-US" sz="700">
                <a:solidFill>
                  <a:srgbClr val="111827"/>
                </a:solidFill>
                <a:latin typeface="Aptos"/>
              </a:rPr>
              <a:t/>
            </a:r>
          </a:p>
          <a:p>
            <a:pPr>
              <a:buNone/>
            </a:pPr>
            <a:r>
              <a:rPr lang="en-US" sz="1200" b="1">
                <a:solidFill>
                  <a:srgbClr val="111827"/>
                </a:solidFill>
                <a:latin typeface="Aptos"/>
              </a:rPr>
              <a:t>Why GapFill is different from just asking an AI chatbot</a:t>
            </a:r>
          </a:p>
          <a:p>
            <a:pPr>
              <a:buNone/>
            </a:pPr>
            <a:r>
              <a:rPr lang="en-US" sz="500">
                <a:solidFill>
                  <a:srgbClr val="111827"/>
                </a:solidFill>
                <a:latin typeface="Aptos"/>
              </a:rPr>
              <a:t/>
            </a:r>
          </a:p>
          <a:p>
            <a:pPr>
              <a:buNone/>
            </a:pPr>
            <a:r>
              <a:rPr lang="en-US" sz="1050">
                <a:solidFill>
                  <a:srgbClr val="444444"/>
                </a:solidFill>
                <a:latin typeface="Aptos"/>
              </a:rPr>
              <a:t>A raw AI has zero context about you. GapFill knows your syllabus, your exam dates, your past mistakes, and your current gaps — and uses all of it to give answers a generic chatbot never could.</a:t>
            </a:r>
          </a:p>
          <a:p>
            <a:pPr>
              <a:buNone/>
            </a:pPr>
            <a:r>
              <a:rPr lang="en-US" sz="700">
                <a:solidFill>
                  <a:srgbClr val="111827"/>
                </a:solidFill>
                <a:latin typeface="Aptos"/>
              </a:rPr>
              <a:t/>
            </a:r>
          </a:p>
          <a:p>
            <a:pPr>
              <a:buNone/>
            </a:pPr>
            <a:r>
              <a:rPr lang="en-US" sz="1200" b="1">
                <a:solidFill>
                  <a:srgbClr val="111827"/>
                </a:solidFill>
                <a:latin typeface="Aptos"/>
              </a:rPr>
              <a:t>Four Core Features</a:t>
            </a:r>
          </a:p>
          <a:p>
            <a:pPr>
              <a:buNone/>
            </a:pPr>
            <a:r>
              <a:rPr lang="en-US" sz="500">
                <a:solidFill>
                  <a:srgbClr val="111827"/>
                </a:solidFill>
                <a:latin typeface="Aptos"/>
              </a:rPr>
              <a:t/>
            </a:r>
          </a:p>
          <a:p>
            <a:pPr>
              <a:buChar char="▪"/>
            </a:pPr>
            <a:r>
              <a:rPr lang="en-US" sz="1050">
                <a:solidFill>
                  <a:srgbClr val="444444"/>
                </a:solidFill>
                <a:latin typeface="Aptos"/>
              </a:rPr>
              <a:t>Syllabus Mapper — paste your syllabus, get every topic tagged with its best resource and exam relevance score</a:t>
            </a:r>
          </a:p>
          <a:p>
            <a:pPr>
              <a:buNone/>
            </a:pPr>
            <a:r>
              <a:rPr lang="en-US" sz="400">
                <a:solidFill>
                  <a:srgbClr val="111827"/>
                </a:solidFill>
                <a:latin typeface="Aptos"/>
              </a:rPr>
              <a:t/>
            </a:r>
          </a:p>
          <a:p>
            <a:pPr>
              <a:buChar char="▪"/>
            </a:pPr>
            <a:r>
              <a:rPr lang="en-US" sz="1050">
                <a:solidFill>
                  <a:srgbClr val="444444"/>
                </a:solidFill>
                <a:latin typeface="Aptos"/>
              </a:rPr>
              <a:t>PYQ Engine — upload past papers or let the community pool contribute; AI maps questions to topics and tracks frequency</a:t>
            </a:r>
          </a:p>
          <a:p>
            <a:pPr>
              <a:buNone/>
            </a:pPr>
            <a:r>
              <a:rPr lang="en-US" sz="400">
                <a:solidFill>
                  <a:srgbClr val="111827"/>
                </a:solidFill>
                <a:latin typeface="Aptos"/>
              </a:rPr>
              <a:t/>
            </a:r>
          </a:p>
          <a:p>
            <a:pPr>
              <a:buChar char="▪"/>
            </a:pPr>
            <a:r>
              <a:rPr lang="en-US" sz="1050">
                <a:solidFill>
                  <a:srgbClr val="444444"/>
                </a:solidFill>
                <a:latin typeface="Aptos"/>
              </a:rPr>
              <a:t>Gap Tracker — quiz performance automatically updates your knowledge status per topic; no self-assessment bias</a:t>
            </a:r>
          </a:p>
          <a:p>
            <a:pPr>
              <a:buNone/>
            </a:pPr>
            <a:r>
              <a:rPr lang="en-US" sz="400">
                <a:solidFill>
                  <a:srgbClr val="111827"/>
                </a:solidFill>
                <a:latin typeface="Aptos"/>
              </a:rPr>
              <a:t/>
            </a:r>
          </a:p>
          <a:p>
            <a:pPr>
              <a:buChar char="▪"/>
            </a:pPr>
            <a:r>
              <a:rPr lang="en-US" sz="1050">
                <a:solidFill>
                  <a:srgbClr val="444444"/>
                </a:solidFill>
                <a:latin typeface="Aptos"/>
              </a:rPr>
              <a:t>AI Explainer — when you get something wrong, GapFill explains the conceptual mistake, not just the correct answer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6" name="Picture 65" descr="1000258662.png"/>
          <p:cNvPicPr>
            <a:picLocks noChangeAspect="1"/>
          </p:cNvPicPr>
          <p:nvPr/>
        </p:nvPicPr>
        <p:blipFill>
          <a:blip r:embed="rId9"/>
          <a:stretch>
            <a:fillRect/>
          </a:stretch>
        </p:blipFill>
        <p:spPr>
          <a:xfrm>
            <a:off x="0" y="0"/>
            <a:ext cx="12191999" cy="6858000"/>
          </a:xfrm>
          <a:prstGeom prst="rect">
            <a:avLst/>
          </a:prstGeom>
        </p:spPr>
      </p:pic>
      <p:sp>
        <p:nvSpPr>
          <p:cNvPr id="63" name="Rectangle 62"/>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stampers_watermark_final.png"/>
          <p:cNvPicPr>
            <a:picLocks noChangeAspect="1"/>
          </p:cNvPicPr>
          <p:nvPr/>
        </p:nvPicPr>
        <p:blipFill>
          <a:blip r:embed="rId8"/>
          <a:stretch>
            <a:fillRect/>
          </a:stretch>
        </p:blipFill>
        <p:spPr>
          <a:xfrm>
            <a:off x="2331720" y="1051560"/>
            <a:ext cx="6583680" cy="6583680"/>
          </a:xfrm>
          <a:prstGeom prst="rect">
            <a:avLst/>
          </a:prstGeom>
        </p:spPr>
      </p:pic>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914400"/>
            <a:ext cx="11411712" cy="13716"/>
          </a:xfrm>
          <a:prstGeom prst="rect">
            <a:avLst/>
          </a:prstGeom>
          <a:solidFill>
            <a:srgbClr val="D7A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 y="1078992"/>
            <a:ext cx="8046720" cy="502920"/>
          </a:xfrm>
          <a:prstGeom prst="rect">
            <a:avLst/>
          </a:prstGeom>
          <a:noFill/>
        </p:spPr>
        <p:txBody>
          <a:bodyPr wrap="none">
            <a:spAutoFit/>
          </a:bodyPr>
          <a:lstStyle/>
          <a:p>
            <a:pPr>
              <a:defRPr b="1" sz="2400">
                <a:solidFill>
                  <a:srgbClr val="F5F7FA"/>
                </a:solidFill>
                <a:latin typeface="Aptos Display"/>
              </a:defRPr>
            </a:pPr>
            <a:r>
              <a:rPr>
                <a:solidFill>
                  <a:srgbClr val="111827"/>
                </a:solidFill>
              </a:rPr>
              <a:t>04  |  SOLUTION APPROACH — DEEP DIVE</a:t>
            </a:r>
          </a:p>
        </p:txBody>
      </p:sp>
      <p:sp>
        <p:nvSpPr>
          <p:cNvPr id="7" name="Rectangle 6"/>
          <p:cNvSpPr/>
          <p:nvPr/>
        </p:nvSpPr>
        <p:spPr>
          <a:xfrm>
            <a:off x="457200" y="1627632"/>
            <a:ext cx="713232" cy="32004"/>
          </a:xfrm>
          <a:prstGeom prst="rect">
            <a:avLst/>
          </a:prstGeom>
          <a:solidFill>
            <a:srgbClr val="D7A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0" y="347472"/>
            <a:ext cx="3154680" cy="274320"/>
          </a:xfrm>
          <a:prstGeom prst="rect">
            <a:avLst/>
          </a:prstGeom>
          <a:noFill/>
        </p:spPr>
        <p:txBody>
          <a:bodyPr wrap="none">
            <a:spAutoFit/>
          </a:bodyPr>
          <a:lstStyle/>
          <a:p>
            <a:pPr algn="r">
              <a:defRPr b="1" sz="800">
                <a:solidFill>
                  <a:srgbClr val="F2C45B"/>
                </a:solidFill>
                <a:latin typeface="Aptos"/>
              </a:defRPr>
            </a:pPr>
            <a:r>
              <a:rPr>
                <a:solidFill/>
              </a:rPr>
              <a:t>AXION HACKATHON  •  PPT TEMPLATE  •  05 / 06</a:t>
            </a:r>
          </a:p>
        </p:txBody>
      </p:sp>
      <p:sp>
        <p:nvSpPr>
          <p:cNvPr id="59" name="Rectangle 58"/>
          <p:cNvSpPr/>
          <p:nvPr/>
        </p:nvSpPr>
        <p:spPr>
          <a:xfrm>
            <a:off x="457200" y="6492240"/>
            <a:ext cx="11247120" cy="9144"/>
          </a:xfrm>
          <a:prstGeom prst="rect">
            <a:avLst/>
          </a:prstGeom>
          <a:solidFill>
            <a:srgbClr val="313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7200" y="6528816"/>
            <a:ext cx="7315200" cy="182880"/>
          </a:xfrm>
          <a:prstGeom prst="rect">
            <a:avLst/>
          </a:prstGeom>
          <a:noFill/>
        </p:spPr>
        <p:txBody>
          <a:bodyPr wrap="none">
            <a:spAutoFit/>
          </a:bodyPr>
          <a:lstStyle/>
          <a:p>
            <a:pPr>
              <a:defRPr sz="700">
                <a:solidFill>
                  <a:srgbClr val="9EA6B2"/>
                </a:solidFill>
                <a:latin typeface="Aptos"/>
              </a:defRPr>
            </a:pPr>
            <a:r>
              <a:rPr>
                <a:solidFill/>
              </a:rPr>
              <a:t>STAY CLEAR  •  STAY STRUCTURED  •  LET YOUR IDEA SPEAK</a:t>
            </a:r>
          </a:p>
        </p:txBody>
      </p:sp>
      <p:sp>
        <p:nvSpPr>
          <p:cNvPr id="61" name="TextBox 60"/>
          <p:cNvSpPr txBox="1"/>
          <p:nvPr/>
        </p:nvSpPr>
        <p:spPr>
          <a:xfrm>
            <a:off x="10515600" y="6528816"/>
            <a:ext cx="1188720" cy="182880"/>
          </a:xfrm>
          <a:prstGeom prst="rect">
            <a:avLst/>
          </a:prstGeom>
          <a:noFill/>
        </p:spPr>
        <p:txBody>
          <a:bodyPr wrap="none">
            <a:spAutoFit/>
          </a:bodyPr>
          <a:lstStyle/>
          <a:p>
            <a:pPr algn="r">
              <a:defRPr sz="700">
                <a:solidFill>
                  <a:srgbClr val="9EA6B2"/>
                </a:solidFill>
                <a:latin typeface="Aptos"/>
              </a:defRPr>
            </a:pPr>
            <a:r>
              <a:rPr>
                <a:solidFill/>
              </a:rPr>
              <a:t>05 / 06</a:t>
            </a:r>
          </a:p>
        </p:txBody>
      </p:sp>
      <p:pic>
        <p:nvPicPr>
          <p:cNvPr id="67" name="Picture 66" descr="stampers_logo_letters_only.png"/>
          <p:cNvPicPr>
            <a:picLocks noChangeAspect="1"/>
          </p:cNvPicPr>
          <p:nvPr/>
        </p:nvPicPr>
        <p:blipFill>
          <a:blip r:embed="rId11"/>
          <a:stretch>
            <a:fillRect/>
          </a:stretch>
        </p:blipFill>
        <p:spPr>
          <a:xfrm>
            <a:off x="347472" y="182880"/>
            <a:ext cx="1325880" cy="182880"/>
          </a:xfrm>
          <a:prstGeom prst="rect">
            <a:avLst/>
          </a:prstGeom>
        </p:spPr>
      </p:pic>
      <p:sp>
        <p:nvSpPr>
          <p:cNvPr id="999" name="ContentBox"/>
          <p:cNvSpPr txBox="1"/>
          <p:nvPr/>
        </p:nvSpPr>
        <p:spPr>
          <a:xfrm>
            <a:off x="457200" y="1700000"/>
            <a:ext cx="5400000" cy="4600000"/>
          </a:xfrm>
          <a:prstGeom prst="rect">
            <a:avLst/>
          </a:prstGeom>
          <a:noFill/>
        </p:spPr>
        <p:txBody>
          <a:bodyPr wrap="square" rtlCol="0">
            <a:spAutoFit/>
          </a:bodyPr>
          <a:lstStyle/>
          <a:p>
            <a:pPr>
              <a:buNone/>
            </a:pPr>
            <a:r>
              <a:rPr lang="en-US" sz="1300" b="1">
                <a:solidFill>
                  <a:srgbClr val="D7A62A"/>
                </a:solidFill>
                <a:latin typeface="Aptos"/>
              </a:rPr>
              <a:t>Step-by-Step Flow</a:t>
            </a:r>
          </a:p>
          <a:p>
            <a:pPr>
              <a:buNone/>
            </a:pPr>
            <a:r>
              <a:rPr lang="en-US" sz="600">
                <a:solidFill>
                  <a:srgbClr val="111827"/>
                </a:solidFill>
                <a:latin typeface="Aptos"/>
              </a:rPr>
              <a:t/>
            </a:r>
          </a:p>
          <a:p>
            <a:pPr>
              <a:buNone/>
            </a:pPr>
            <a:r>
              <a:rPr lang="en-US" sz="1100" b="1">
                <a:solidFill>
                  <a:srgbClr val="111827"/>
                </a:solidFill>
                <a:latin typeface="Aptos"/>
              </a:rPr>
              <a:t>Step 1 — Syllabus Input</a:t>
            </a:r>
          </a:p>
          <a:p>
            <a:pPr>
              <a:buNone/>
            </a:pPr>
            <a:r>
              <a:rPr lang="en-US" sz="980">
                <a:solidFill>
                  <a:srgbClr val="444444"/>
                </a:solidFill>
                <a:latin typeface="Aptos"/>
              </a:rPr>
              <a:t>Student pastes their syllabus. AI extracts individual topics, estimates difficulty and exam-weightage, and presents them for review.</a:t>
            </a:r>
          </a:p>
          <a:p>
            <a:pPr>
              <a:buNone/>
            </a:pPr>
            <a:r>
              <a:rPr lang="en-US" sz="500">
                <a:solidFill>
                  <a:srgbClr val="111827"/>
                </a:solidFill>
                <a:latin typeface="Aptos"/>
              </a:rPr>
              <a:t/>
            </a:r>
          </a:p>
          <a:p>
            <a:pPr>
              <a:buNone/>
            </a:pPr>
            <a:r>
              <a:rPr lang="en-US" sz="1100" b="1">
                <a:solidFill>
                  <a:srgbClr val="111827"/>
                </a:solidFill>
                <a:latin typeface="Aptos"/>
              </a:rPr>
              <a:t>Step 2 — PYQ Mapping</a:t>
            </a:r>
          </a:p>
          <a:p>
            <a:pPr>
              <a:buNone/>
            </a:pPr>
            <a:r>
              <a:rPr lang="en-US" sz="980">
                <a:solidFill>
                  <a:srgbClr val="444444"/>
                </a:solidFill>
                <a:latin typeface="Aptos"/>
              </a:rPr>
              <a:t>Student uploads past papers (PDF or text). If none available, the community pool for their college is checked. If still empty, AI generates exam-style questions from the syllabus.</a:t>
            </a:r>
          </a:p>
          <a:p>
            <a:pPr>
              <a:buNone/>
            </a:pPr>
            <a:r>
              <a:rPr lang="en-US" sz="500">
                <a:solidFill>
                  <a:srgbClr val="111827"/>
                </a:solidFill>
                <a:latin typeface="Aptos"/>
              </a:rPr>
              <a:t/>
            </a:r>
          </a:p>
          <a:p>
            <a:pPr>
              <a:buNone/>
            </a:pPr>
            <a:r>
              <a:rPr lang="en-US" sz="1100" b="1">
                <a:solidFill>
                  <a:srgbClr val="111827"/>
                </a:solidFill>
                <a:latin typeface="Aptos"/>
              </a:rPr>
              <a:t>Step 3 — Resource Tagging</a:t>
            </a:r>
          </a:p>
          <a:p>
            <a:pPr>
              <a:buNone/>
            </a:pPr>
            <a:r>
              <a:rPr lang="en-US" sz="980">
                <a:solidFill>
                  <a:srgbClr val="444444"/>
                </a:solidFill>
                <a:latin typeface="Aptos"/>
              </a:rPr>
              <a:t>Each topic gets tagged with a curated resource — the single best video, doc page, or book chapter — not a generic search.</a:t>
            </a:r>
          </a:p>
          <a:p>
            <a:pPr>
              <a:buNone/>
            </a:pPr>
            <a:r>
              <a:rPr lang="en-US" sz="500">
                <a:solidFill>
                  <a:srgbClr val="111827"/>
                </a:solidFill>
                <a:latin typeface="Aptos"/>
              </a:rPr>
              <a:t/>
            </a:r>
          </a:p>
          <a:p>
            <a:pPr>
              <a:buNone/>
            </a:pPr>
            <a:r>
              <a:rPr lang="en-US" sz="1100" b="1">
                <a:solidFill>
                  <a:srgbClr val="111827"/>
                </a:solidFill>
                <a:latin typeface="Aptos"/>
              </a:rPr>
              <a:t>Step 4 — Quiz &amp; Gap Tracking</a:t>
            </a:r>
          </a:p>
          <a:p>
            <a:pPr>
              <a:buNone/>
            </a:pPr>
            <a:r>
              <a:rPr lang="en-US" sz="980">
                <a:solidFill>
                  <a:srgbClr val="444444"/>
                </a:solidFill>
                <a:latin typeface="Aptos"/>
              </a:rPr>
              <a:t>Student attempts practice questions. Every wrong answer is logged, categorized by concept, and used to update the gap score for that topic automatically.</a:t>
            </a:r>
          </a:p>
          <a:p>
            <a:pPr>
              <a:buNone/>
            </a:pPr>
            <a:r>
              <a:rPr lang="en-US" sz="500">
                <a:solidFill>
                  <a:srgbClr val="111827"/>
                </a:solidFill>
                <a:latin typeface="Aptos"/>
              </a:rPr>
              <a:t/>
            </a:r>
          </a:p>
          <a:p>
            <a:pPr>
              <a:buNone/>
            </a:pPr>
            <a:r>
              <a:rPr lang="en-US" sz="1100" b="1">
                <a:solidFill>
                  <a:srgbClr val="111827"/>
                </a:solidFill>
                <a:latin typeface="Aptos"/>
              </a:rPr>
              <a:t>Step 5 — AI Explanation</a:t>
            </a:r>
          </a:p>
          <a:p>
            <a:pPr>
              <a:buNone/>
            </a:pPr>
            <a:r>
              <a:rPr lang="en-US" sz="980">
                <a:solidFill>
                  <a:srgbClr val="444444"/>
                </a:solidFill>
                <a:latin typeface="Aptos"/>
              </a:rPr>
              <a:t>After each wrong answer, GapFill explains the conceptual error — not just the solution — so the student understands why, not just what.</a:t>
            </a:r>
          </a:p>
        </p:txBody>
      </p:sp>
      <p:sp>
        <p:nvSpPr>
          <p:cNvPr id="999" name="ContentBox"/>
          <p:cNvSpPr txBox="1"/>
          <p:nvPr/>
        </p:nvSpPr>
        <p:spPr>
          <a:xfrm>
            <a:off x="6200000" y="1700000"/>
            <a:ext cx="5400000" cy="4600000"/>
          </a:xfrm>
          <a:prstGeom prst="rect">
            <a:avLst/>
          </a:prstGeom>
          <a:noFill/>
        </p:spPr>
        <p:txBody>
          <a:bodyPr wrap="square" rtlCol="0">
            <a:spAutoFit/>
          </a:bodyPr>
          <a:lstStyle/>
          <a:p>
            <a:pPr>
              <a:buNone/>
            </a:pPr>
            <a:r>
              <a:rPr lang="en-US" sz="1300" b="1">
                <a:solidFill>
                  <a:srgbClr val="D7A62A"/>
                </a:solidFill>
                <a:latin typeface="Aptos"/>
              </a:rPr>
              <a:t>What Makes It Genuinely Different</a:t>
            </a:r>
          </a:p>
          <a:p>
            <a:pPr>
              <a:buNone/>
            </a:pPr>
            <a:r>
              <a:rPr lang="en-US" sz="600">
                <a:solidFill>
                  <a:srgbClr val="111827"/>
                </a:solidFill>
                <a:latin typeface="Aptos"/>
              </a:rPr>
              <a:t/>
            </a:r>
          </a:p>
          <a:p>
            <a:pPr>
              <a:buNone/>
            </a:pPr>
            <a:r>
              <a:rPr lang="en-US" sz="1100" b="1">
                <a:solidFill>
                  <a:srgbClr val="111827"/>
                </a:solidFill>
                <a:latin typeface="Aptos"/>
              </a:rPr>
              <a:t>PYQ Frequency Intelligence</a:t>
            </a:r>
          </a:p>
          <a:p>
            <a:pPr>
              <a:buNone/>
            </a:pPr>
            <a:r>
              <a:rPr lang="en-US" sz="980">
                <a:solidFill>
                  <a:srgbClr val="444444"/>
                </a:solidFill>
                <a:latin typeface="Aptos"/>
              </a:rPr>
              <a:t>"Sorting algorithms appear in 80% of your past exams. Hash tables have never been asked. Focus accordingly." — a raw AI can never say this.</a:t>
            </a:r>
          </a:p>
          <a:p>
            <a:pPr>
              <a:buNone/>
            </a:pPr>
            <a:r>
              <a:rPr lang="en-US" sz="500">
                <a:solidFill>
                  <a:srgbClr val="111827"/>
                </a:solidFill>
                <a:latin typeface="Aptos"/>
              </a:rPr>
              <a:t/>
            </a:r>
          </a:p>
          <a:p>
            <a:pPr>
              <a:buNone/>
            </a:pPr>
            <a:r>
              <a:rPr lang="en-US" sz="1100" b="1">
                <a:solidFill>
                  <a:srgbClr val="111827"/>
                </a:solidFill>
                <a:latin typeface="Aptos"/>
              </a:rPr>
              <a:t>Mistake Memory</a:t>
            </a:r>
          </a:p>
          <a:p>
            <a:pPr>
              <a:buNone/>
            </a:pPr>
            <a:r>
              <a:rPr lang="en-US" sz="980">
                <a:solidFill>
                  <a:srgbClr val="444444"/>
                </a:solidFill>
                <a:latin typeface="Aptos"/>
              </a:rPr>
              <a:t>Every wrong answer is remembered and categorized. The app surfaces your recurring mistakes automatically the next time you approach a related topic.</a:t>
            </a:r>
          </a:p>
          <a:p>
            <a:pPr>
              <a:buNone/>
            </a:pPr>
            <a:r>
              <a:rPr lang="en-US" sz="500">
                <a:solidFill>
                  <a:srgbClr val="111827"/>
                </a:solidFill>
                <a:latin typeface="Aptos"/>
              </a:rPr>
              <a:t/>
            </a:r>
          </a:p>
          <a:p>
            <a:pPr>
              <a:buNone/>
            </a:pPr>
            <a:r>
              <a:rPr lang="en-US" sz="1100" b="1">
                <a:solidFill>
                  <a:srgbClr val="111827"/>
                </a:solidFill>
                <a:latin typeface="Aptos"/>
              </a:rPr>
              <a:t>Works Without PYQs</a:t>
            </a:r>
          </a:p>
          <a:p>
            <a:pPr>
              <a:buNone/>
            </a:pPr>
            <a:r>
              <a:rPr lang="en-US" sz="980">
                <a:solidFill>
                  <a:srgbClr val="444444"/>
                </a:solidFill>
                <a:latin typeface="Aptos"/>
              </a:rPr>
              <a:t>Upload what you have. Benefit from your college's community pool. Or get AI-generated exam-style questions. Every student is covered.</a:t>
            </a:r>
          </a:p>
          <a:p>
            <a:pPr>
              <a:buNone/>
            </a:pPr>
            <a:r>
              <a:rPr lang="en-US" sz="500">
                <a:solidFill>
                  <a:srgbClr val="111827"/>
                </a:solidFill>
                <a:latin typeface="Aptos"/>
              </a:rPr>
              <a:t/>
            </a:r>
          </a:p>
          <a:p>
            <a:pPr>
              <a:buNone/>
            </a:pPr>
            <a:r>
              <a:rPr lang="en-US" sz="1100" b="1">
                <a:solidFill>
                  <a:srgbClr val="111827"/>
                </a:solidFill>
                <a:latin typeface="Aptos"/>
              </a:rPr>
              <a:t>Bring Your Own AI Model</a:t>
            </a:r>
          </a:p>
          <a:p>
            <a:pPr>
              <a:buNone/>
            </a:pPr>
            <a:r>
              <a:rPr lang="en-US" sz="980">
                <a:solidFill>
                  <a:srgbClr val="444444"/>
                </a:solidFill>
                <a:latin typeface="Aptos"/>
              </a:rPr>
              <a:t>Students connect their own API key (Anthropic, OpenAI) or run a free local model via Ollama. Zero cost to run, zero data stored on any server.</a:t>
            </a:r>
          </a:p>
          <a:p>
            <a:pPr>
              <a:buNone/>
            </a:pPr>
            <a:r>
              <a:rPr lang="en-US" sz="500">
                <a:solidFill>
                  <a:srgbClr val="111827"/>
                </a:solidFill>
                <a:latin typeface="Aptos"/>
              </a:rPr>
              <a:t/>
            </a:r>
          </a:p>
          <a:p>
            <a:pPr>
              <a:buNone/>
            </a:pPr>
            <a:r>
              <a:rPr lang="en-US" sz="1100" b="1">
                <a:solidFill>
                  <a:srgbClr val="111827"/>
                </a:solidFill>
                <a:latin typeface="Aptos"/>
              </a:rPr>
              <a:t>Exam Countdown Prioritization</a:t>
            </a:r>
          </a:p>
          <a:p>
            <a:pPr>
              <a:buNone/>
            </a:pPr>
            <a:r>
              <a:rPr lang="en-US" sz="980">
                <a:solidFill>
                  <a:srgbClr val="444444"/>
                </a:solidFill>
                <a:latin typeface="Aptos"/>
              </a:rPr>
              <a:t>As exams approach, GapFill re-ranks topics by gap score × PYQ frequency × days remaining — so you always study what matters most, right now.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6" name="Picture 65" descr="1000258662.png"/>
          <p:cNvPicPr>
            <a:picLocks noChangeAspect="1"/>
          </p:cNvPicPr>
          <p:nvPr/>
        </p:nvPicPr>
        <p:blipFill>
          <a:blip r:embed="rId9"/>
          <a:stretch>
            <a:fillRect/>
          </a:stretch>
        </p:blipFill>
        <p:spPr>
          <a:xfrm>
            <a:off x="0" y="0"/>
            <a:ext cx="12191999" cy="6858000"/>
          </a:xfrm>
          <a:prstGeom prst="rect">
            <a:avLst/>
          </a:prstGeom>
        </p:spPr>
      </p:pic>
      <p:sp>
        <p:nvSpPr>
          <p:cNvPr id="63" name="Rectangle 62"/>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stampers_watermark_final.png"/>
          <p:cNvPicPr>
            <a:picLocks noChangeAspect="1"/>
          </p:cNvPicPr>
          <p:nvPr/>
        </p:nvPicPr>
        <p:blipFill>
          <a:blip r:embed="rId8"/>
          <a:stretch>
            <a:fillRect/>
          </a:stretch>
        </p:blipFill>
        <p:spPr>
          <a:xfrm>
            <a:off x="2331720" y="1051560"/>
            <a:ext cx="6583680" cy="6583680"/>
          </a:xfrm>
          <a:prstGeom prst="rect">
            <a:avLst/>
          </a:prstGeom>
        </p:spPr>
      </p:pic>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914400"/>
            <a:ext cx="11411712" cy="13716"/>
          </a:xfrm>
          <a:prstGeom prst="rect">
            <a:avLst/>
          </a:prstGeom>
          <a:solidFill>
            <a:srgbClr val="D7A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 y="1078992"/>
            <a:ext cx="8046720" cy="502920"/>
          </a:xfrm>
          <a:prstGeom prst="rect">
            <a:avLst/>
          </a:prstGeom>
          <a:noFill/>
        </p:spPr>
        <p:txBody>
          <a:bodyPr wrap="none">
            <a:spAutoFit/>
          </a:bodyPr>
          <a:lstStyle/>
          <a:p>
            <a:pPr>
              <a:defRPr b="1" sz="2400">
                <a:solidFill>
                  <a:srgbClr val="F5F7FA"/>
                </a:solidFill>
                <a:latin typeface="Aptos Display"/>
              </a:defRPr>
            </a:pPr>
            <a:r>
              <a:rPr>
                <a:solidFill>
                  <a:srgbClr val="111827"/>
                </a:solidFill>
              </a:rPr>
              <a:t>05  |  TECH STACK USED</a:t>
            </a:r>
          </a:p>
        </p:txBody>
      </p:sp>
      <p:sp>
        <p:nvSpPr>
          <p:cNvPr id="7" name="Rectangle 6"/>
          <p:cNvSpPr/>
          <p:nvPr/>
        </p:nvSpPr>
        <p:spPr>
          <a:xfrm>
            <a:off x="457200" y="1627632"/>
            <a:ext cx="713232" cy="32004"/>
          </a:xfrm>
          <a:prstGeom prst="rect">
            <a:avLst/>
          </a:prstGeom>
          <a:solidFill>
            <a:srgbClr val="D7A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0" y="347472"/>
            <a:ext cx="3154680" cy="274320"/>
          </a:xfrm>
          <a:prstGeom prst="rect">
            <a:avLst/>
          </a:prstGeom>
          <a:noFill/>
        </p:spPr>
        <p:txBody>
          <a:bodyPr wrap="none">
            <a:spAutoFit/>
          </a:bodyPr>
          <a:lstStyle/>
          <a:p>
            <a:pPr algn="r">
              <a:defRPr b="1" sz="800">
                <a:solidFill>
                  <a:srgbClr val="F2C45B"/>
                </a:solidFill>
                <a:latin typeface="Aptos"/>
              </a:defRPr>
            </a:pPr>
            <a:r>
              <a:rPr>
                <a:solidFill/>
              </a:rPr>
              <a:t>AXION HACKATHON  •  PPT TEMPLATE  •  06 / 06</a:t>
            </a:r>
          </a:p>
        </p:txBody>
      </p:sp>
      <p:sp>
        <p:nvSpPr>
          <p:cNvPr id="59" name="Rectangle 58"/>
          <p:cNvSpPr/>
          <p:nvPr/>
        </p:nvSpPr>
        <p:spPr>
          <a:xfrm>
            <a:off x="457200" y="6492240"/>
            <a:ext cx="11247120" cy="9144"/>
          </a:xfrm>
          <a:prstGeom prst="rect">
            <a:avLst/>
          </a:prstGeom>
          <a:solidFill>
            <a:srgbClr val="313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7200" y="6528816"/>
            <a:ext cx="7315200" cy="182880"/>
          </a:xfrm>
          <a:prstGeom prst="rect">
            <a:avLst/>
          </a:prstGeom>
          <a:noFill/>
        </p:spPr>
        <p:txBody>
          <a:bodyPr wrap="none">
            <a:spAutoFit/>
          </a:bodyPr>
          <a:lstStyle/>
          <a:p>
            <a:pPr>
              <a:defRPr sz="700">
                <a:solidFill>
                  <a:srgbClr val="9EA6B2"/>
                </a:solidFill>
                <a:latin typeface="Aptos"/>
              </a:defRPr>
            </a:pPr>
            <a:r>
              <a:rPr>
                <a:solidFill/>
              </a:rPr>
              <a:t>STAY CLEAR  •  STAY STRUCTURED  •  LET YOUR IDEA SPEAK</a:t>
            </a:r>
          </a:p>
        </p:txBody>
      </p:sp>
      <p:sp>
        <p:nvSpPr>
          <p:cNvPr id="61" name="TextBox 60"/>
          <p:cNvSpPr txBox="1"/>
          <p:nvPr/>
        </p:nvSpPr>
        <p:spPr>
          <a:xfrm>
            <a:off x="10515600" y="6528816"/>
            <a:ext cx="1188720" cy="182880"/>
          </a:xfrm>
          <a:prstGeom prst="rect">
            <a:avLst/>
          </a:prstGeom>
          <a:noFill/>
        </p:spPr>
        <p:txBody>
          <a:bodyPr wrap="none">
            <a:spAutoFit/>
          </a:bodyPr>
          <a:lstStyle/>
          <a:p>
            <a:pPr algn="r">
              <a:defRPr sz="700">
                <a:solidFill>
                  <a:srgbClr val="9EA6B2"/>
                </a:solidFill>
                <a:latin typeface="Aptos"/>
              </a:defRPr>
            </a:pPr>
            <a:r>
              <a:rPr>
                <a:solidFill/>
              </a:rPr>
              <a:t>06 / 06</a:t>
            </a:r>
          </a:p>
        </p:txBody>
      </p:sp>
      <p:pic>
        <p:nvPicPr>
          <p:cNvPr id="67" name="Picture 66" descr="stampers_logo_letters_only.png"/>
          <p:cNvPicPr>
            <a:picLocks noChangeAspect="1"/>
          </p:cNvPicPr>
          <p:nvPr/>
        </p:nvPicPr>
        <p:blipFill>
          <a:blip r:embed="rId11"/>
          <a:stretch>
            <a:fillRect/>
          </a:stretch>
        </p:blipFill>
        <p:spPr>
          <a:xfrm>
            <a:off x="347472" y="182880"/>
            <a:ext cx="1325880" cy="182880"/>
          </a:xfrm>
          <a:prstGeom prst="rect">
            <a:avLst/>
          </a:prstGeom>
        </p:spPr>
      </p:pic>
      <p:sp>
        <p:nvSpPr>
          <p:cNvPr id="999" name="ContentBox"/>
          <p:cNvSpPr txBox="1"/>
          <p:nvPr/>
        </p:nvSpPr>
        <p:spPr>
          <a:xfrm>
            <a:off x="457200" y="1700000"/>
            <a:ext cx="5400000" cy="4600000"/>
          </a:xfrm>
          <a:prstGeom prst="rect">
            <a:avLst/>
          </a:prstGeom>
          <a:noFill/>
        </p:spPr>
        <p:txBody>
          <a:bodyPr wrap="square" rtlCol="0">
            <a:spAutoFit/>
          </a:bodyPr>
          <a:lstStyle/>
          <a:p>
            <a:pPr>
              <a:buNone/>
            </a:pPr>
            <a:r>
              <a:rPr lang="en-US" sz="1300" b="1">
                <a:solidFill>
                  <a:srgbClr val="D7A62A"/>
                </a:solidFill>
                <a:latin typeface="Aptos"/>
              </a:rPr>
              <a:t>Frontend</a:t>
            </a:r>
          </a:p>
          <a:p>
            <a:pPr>
              <a:buNone/>
            </a:pPr>
            <a:r>
              <a:rPr lang="en-US" sz="500">
                <a:solidFill>
                  <a:srgbClr val="111827"/>
                </a:solidFill>
                <a:latin typeface="Aptos"/>
              </a:rPr>
              <a:t/>
            </a:r>
          </a:p>
          <a:p>
            <a:pPr>
              <a:buNone/>
            </a:pPr>
            <a:r>
              <a:rPr lang="en-US" sz="1100" b="1">
                <a:solidFill>
                  <a:srgbClr val="111827"/>
                </a:solidFill>
                <a:latin typeface="Aptos"/>
              </a:rPr>
              <a:t>React.js</a:t>
            </a:r>
          </a:p>
          <a:p>
            <a:pPr>
              <a:buNone/>
            </a:pPr>
            <a:r>
              <a:rPr lang="en-US" sz="1000">
                <a:solidFill>
                  <a:srgbClr val="444444"/>
                </a:solidFill>
                <a:latin typeface="Aptos"/>
              </a:rPr>
              <a:t>Onboarding flow, syllabus input, quiz interface, gap tracker dashboard, chatbot UI</a:t>
            </a:r>
          </a:p>
          <a:p>
            <a:pPr>
              <a:buNone/>
            </a:pPr>
            <a:r>
              <a:rPr lang="en-US" sz="600">
                <a:solidFill>
                  <a:srgbClr val="111827"/>
                </a:solidFill>
                <a:latin typeface="Aptos"/>
              </a:rPr>
              <a:t/>
            </a:r>
          </a:p>
          <a:p>
            <a:pPr>
              <a:buNone/>
            </a:pPr>
            <a:r>
              <a:rPr lang="en-US" sz="1300" b="1">
                <a:solidFill>
                  <a:srgbClr val="D7A62A"/>
                </a:solidFill>
                <a:latin typeface="Aptos"/>
              </a:rPr>
              <a:t>Backend</a:t>
            </a:r>
          </a:p>
          <a:p>
            <a:pPr>
              <a:buNone/>
            </a:pPr>
            <a:r>
              <a:rPr lang="en-US" sz="500">
                <a:solidFill>
                  <a:srgbClr val="111827"/>
                </a:solidFill>
                <a:latin typeface="Aptos"/>
              </a:rPr>
              <a:t/>
            </a:r>
          </a:p>
          <a:p>
            <a:pPr>
              <a:buNone/>
            </a:pPr>
            <a:r>
              <a:rPr lang="en-US" sz="1100" b="1">
                <a:solidFill>
                  <a:srgbClr val="111827"/>
                </a:solidFill>
                <a:latin typeface="Aptos"/>
              </a:rPr>
              <a:t>Python + Flask</a:t>
            </a:r>
          </a:p>
          <a:p>
            <a:pPr>
              <a:buNone/>
            </a:pPr>
            <a:r>
              <a:rPr lang="en-US" sz="1000">
                <a:solidFill>
                  <a:srgbClr val="444444"/>
                </a:solidFill>
                <a:latin typeface="Aptos"/>
              </a:rPr>
              <a:t>API routing, prompt orchestration, PYQ parsing, session management</a:t>
            </a:r>
          </a:p>
          <a:p>
            <a:pPr>
              <a:buNone/>
            </a:pPr>
            <a:r>
              <a:rPr lang="en-US" sz="600">
                <a:solidFill>
                  <a:srgbClr val="111827"/>
                </a:solidFill>
                <a:latin typeface="Aptos"/>
              </a:rPr>
              <a:t/>
            </a:r>
          </a:p>
          <a:p>
            <a:pPr>
              <a:buNone/>
            </a:pPr>
            <a:r>
              <a:rPr lang="en-US" sz="1300" b="1">
                <a:solidFill>
                  <a:srgbClr val="D7A62A"/>
                </a:solidFill>
                <a:latin typeface="Aptos"/>
              </a:rPr>
              <a:t>AI Layer</a:t>
            </a:r>
          </a:p>
          <a:p>
            <a:pPr>
              <a:buNone/>
            </a:pPr>
            <a:r>
              <a:rPr lang="en-US" sz="500">
                <a:solidFill>
                  <a:srgbClr val="111827"/>
                </a:solidFill>
                <a:latin typeface="Aptos"/>
              </a:rPr>
              <a:t/>
            </a:r>
          </a:p>
          <a:p>
            <a:pPr>
              <a:buNone/>
            </a:pPr>
            <a:r>
              <a:rPr lang="en-US" sz="1100" b="1">
                <a:solidFill>
                  <a:srgbClr val="111827"/>
                </a:solidFill>
                <a:latin typeface="Aptos"/>
              </a:rPr>
              <a:t>Unified LLM Abstraction (llm.js)</a:t>
            </a:r>
          </a:p>
          <a:p>
            <a:pPr>
              <a:buNone/>
            </a:pPr>
            <a:r>
              <a:rPr lang="en-US" sz="1000">
                <a:solidFill>
                  <a:srgbClr val="444444"/>
                </a:solidFill>
                <a:latin typeface="Aptos"/>
              </a:rPr>
              <a:t>Supports Anthropic Claude API, OpenAI GPT API, and local Ollama models interchangeably</a:t>
            </a:r>
          </a:p>
        </p:txBody>
      </p:sp>
      <p:sp>
        <p:nvSpPr>
          <p:cNvPr id="999" name="ContentBox"/>
          <p:cNvSpPr txBox="1"/>
          <p:nvPr/>
        </p:nvSpPr>
        <p:spPr>
          <a:xfrm>
            <a:off x="6200000" y="1700000"/>
            <a:ext cx="5400000" cy="4600000"/>
          </a:xfrm>
          <a:prstGeom prst="rect">
            <a:avLst/>
          </a:prstGeom>
          <a:noFill/>
        </p:spPr>
        <p:txBody>
          <a:bodyPr wrap="square" rtlCol="0">
            <a:spAutoFit/>
          </a:bodyPr>
          <a:lstStyle/>
          <a:p>
            <a:pPr>
              <a:buNone/>
            </a:pPr>
            <a:r>
              <a:rPr lang="en-US" sz="1300" b="1">
                <a:solidFill>
                  <a:srgbClr val="D7A62A"/>
                </a:solidFill>
                <a:latin typeface="Aptos"/>
              </a:rPr>
              <a:t>Storage &amp; Processing</a:t>
            </a:r>
          </a:p>
          <a:p>
            <a:pPr>
              <a:buNone/>
            </a:pPr>
            <a:r>
              <a:rPr lang="en-US" sz="500">
                <a:solidFill>
                  <a:srgbClr val="111827"/>
                </a:solidFill>
                <a:latin typeface="Aptos"/>
              </a:rPr>
              <a:t/>
            </a:r>
          </a:p>
          <a:p>
            <a:pPr>
              <a:buNone/>
            </a:pPr>
            <a:r>
              <a:rPr lang="en-US" sz="1100" b="1">
                <a:solidFill>
                  <a:srgbClr val="111827"/>
                </a:solidFill>
                <a:latin typeface="Aptos"/>
              </a:rPr>
              <a:t>Browser Session + LocalStorage</a:t>
            </a:r>
          </a:p>
          <a:p>
            <a:pPr>
              <a:buNone/>
            </a:pPr>
            <a:r>
              <a:rPr lang="en-US" sz="1000">
                <a:solidFill>
                  <a:srgbClr val="444444"/>
                </a:solidFill>
                <a:latin typeface="Aptos"/>
              </a:rPr>
              <a:t>No database — all user data stays in the browser session. Zero server-side data retention.</a:t>
            </a:r>
          </a:p>
          <a:p>
            <a:pPr>
              <a:buNone/>
            </a:pPr>
            <a:r>
              <a:rPr lang="en-US" sz="600">
                <a:solidFill>
                  <a:srgbClr val="111827"/>
                </a:solidFill>
                <a:latin typeface="Aptos"/>
              </a:rPr>
              <a:t/>
            </a:r>
          </a:p>
          <a:p>
            <a:pPr>
              <a:buNone/>
            </a:pPr>
            <a:r>
              <a:rPr lang="en-US" sz="1100" b="1">
                <a:solidFill>
                  <a:srgbClr val="111827"/>
                </a:solidFill>
                <a:latin typeface="Aptos"/>
              </a:rPr>
              <a:t>PDF.js / PyMuPDF</a:t>
            </a:r>
          </a:p>
          <a:p>
            <a:pPr>
              <a:buNone/>
            </a:pPr>
            <a:r>
              <a:rPr lang="en-US" sz="1000">
                <a:solidFill>
                  <a:srgbClr val="444444"/>
                </a:solidFill>
                <a:latin typeface="Aptos"/>
              </a:rPr>
              <a:t>PYQ document parsing and text extraction from uploaded past papers</a:t>
            </a:r>
          </a:p>
          <a:p>
            <a:pPr>
              <a:buNone/>
            </a:pPr>
            <a:r>
              <a:rPr lang="en-US" sz="600">
                <a:solidFill>
                  <a:srgbClr val="111827"/>
                </a:solidFill>
                <a:latin typeface="Aptos"/>
              </a:rPr>
              <a:t/>
            </a:r>
          </a:p>
          <a:p>
            <a:pPr>
              <a:buNone/>
            </a:pPr>
            <a:r>
              <a:rPr lang="en-US" sz="1300" b="1">
                <a:solidFill>
                  <a:srgbClr val="D7A62A"/>
                </a:solidFill>
                <a:latin typeface="Aptos"/>
              </a:rPr>
              <a:t>Key Libraries</a:t>
            </a:r>
          </a:p>
          <a:p>
            <a:pPr>
              <a:buNone/>
            </a:pPr>
            <a:r>
              <a:rPr lang="en-US" sz="500">
                <a:solidFill>
                  <a:srgbClr val="111827"/>
                </a:solidFill>
                <a:latin typeface="Aptos"/>
              </a:rPr>
              <a:t/>
            </a:r>
          </a:p>
          <a:p>
            <a:pPr>
              <a:buChar char="▪"/>
            </a:pPr>
            <a:r>
              <a:rPr lang="en-US" sz="1000">
                <a:solidFill>
                  <a:srgbClr val="444444"/>
                </a:solidFill>
                <a:latin typeface="Aptos"/>
              </a:rPr>
              <a:t>Marked.js — schedule and content rendering</a:t>
            </a:r>
          </a:p>
          <a:p>
            <a:pPr>
              <a:buNone/>
            </a:pPr>
            <a:r>
              <a:rPr lang="en-US" sz="300">
                <a:solidFill>
                  <a:srgbClr val="111827"/>
                </a:solidFill>
                <a:latin typeface="Aptos"/>
              </a:rPr>
              <a:t/>
            </a:r>
          </a:p>
          <a:p>
            <a:pPr>
              <a:buChar char="▪"/>
            </a:pPr>
            <a:r>
              <a:rPr lang="en-US" sz="1000">
                <a:solidFill>
                  <a:srgbClr val="444444"/>
                </a:solidFill>
                <a:latin typeface="Aptos"/>
              </a:rPr>
              <a:t>Chart.js — gap score visualization</a:t>
            </a:r>
          </a:p>
          <a:p>
            <a:pPr>
              <a:buNone/>
            </a:pPr>
            <a:r>
              <a:rPr lang="en-US" sz="300">
                <a:solidFill>
                  <a:srgbClr val="111827"/>
                </a:solidFill>
                <a:latin typeface="Aptos"/>
              </a:rPr>
              <a:t/>
            </a:r>
          </a:p>
          <a:p>
            <a:pPr>
              <a:buChar char="▪"/>
            </a:pPr>
            <a:r>
              <a:rPr lang="en-US" sz="1000">
                <a:solidFill>
                  <a:srgbClr val="444444"/>
                </a:solidFill>
                <a:latin typeface="Aptos"/>
              </a:rPr>
              <a:t>Tailwind CSS — UI styling</a:t>
            </a:r>
          </a:p>
          <a:p>
            <a:pPr>
              <a:buNone/>
            </a:pPr>
            <a:r>
              <a:rPr lang="en-US" sz="300">
                <a:solidFill>
                  <a:srgbClr val="111827"/>
                </a:solidFill>
                <a:latin typeface="Aptos"/>
              </a:rPr>
              <a:t/>
            </a:r>
          </a:p>
          <a:p>
            <a:pPr>
              <a:buChar char="▪"/>
            </a:pPr>
            <a:r>
              <a:rPr lang="en-US" sz="1000">
                <a:solidFill>
                  <a:srgbClr val="444444"/>
                </a:solidFill>
                <a:latin typeface="Aptos"/>
              </a:rPr>
              <a:t>Ollama API — local model support</a:t>
            </a:r>
          </a:p>
          <a:p>
            <a:pPr>
              <a:buNone/>
            </a:pPr>
            <a:r>
              <a:rPr lang="en-US" sz="600">
                <a:solidFill>
                  <a:srgbClr val="111827"/>
                </a:solidFill>
                <a:latin typeface="Aptos"/>
              </a:rPr>
              <a:t/>
            </a:r>
          </a:p>
          <a:p>
            <a:pPr>
              <a:buNone/>
            </a:pPr>
            <a:r>
              <a:rPr lang="en-US" sz="1300" b="1">
                <a:solidFill>
                  <a:srgbClr val="D7A62A"/>
                </a:solidFill>
                <a:latin typeface="Aptos"/>
              </a:rPr>
              <a:t>Domain</a:t>
            </a:r>
          </a:p>
          <a:p>
            <a:pPr>
              <a:buNone/>
            </a:pPr>
            <a:r>
              <a:rPr lang="en-US" sz="500">
                <a:solidFill>
                  <a:srgbClr val="111827"/>
                </a:solidFill>
                <a:latin typeface="Aptos"/>
              </a:rPr>
              <a:t/>
            </a:r>
          </a:p>
          <a:p>
            <a:pPr>
              <a:buNone/>
            </a:pPr>
            <a:r>
              <a:rPr lang="en-US" sz="1100" b="1">
                <a:solidFill>
                  <a:srgbClr val="111827"/>
                </a:solidFill>
                <a:latin typeface="Aptos"/>
              </a:rPr>
              <a:t>EdTech + AI/ML</a:t>
            </a:r>
          </a:p>
          <a:p>
            <a:pPr>
              <a:buNone/>
            </a:pPr>
            <a:r>
              <a:rPr lang="en-US" sz="1000">
                <a:solidFill>
                  <a:srgbClr val="444444"/>
                </a:solidFill>
                <a:latin typeface="Aptos"/>
              </a:rPr>
              <a:t>Addressing exam preparation, knowledge gap analysis, and personalized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